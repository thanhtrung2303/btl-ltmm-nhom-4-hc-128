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12"/>
  </p:notesMasterIdLst>
  <p:handoutMasterIdLst>
    <p:handoutMasterId r:id="rId13"/>
  </p:handoutMasterIdLst>
  <p:sldIdLst>
    <p:sldId id="257" r:id="rId2"/>
    <p:sldId id="333" r:id="rId3"/>
    <p:sldId id="277" r:id="rId4"/>
    <p:sldId id="544" r:id="rId5"/>
    <p:sldId id="548" r:id="rId6"/>
    <p:sldId id="547" r:id="rId7"/>
    <p:sldId id="549" r:id="rId8"/>
    <p:sldId id="523" r:id="rId9"/>
    <p:sldId id="550" r:id="rId10"/>
    <p:sldId id="26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DEF"/>
    <a:srgbClr val="FCD354"/>
    <a:srgbClr val="CB53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486C25-C830-568C-9E6D-305D58C34A1E}" v="688" dt="2026-10-21T04:19:20.8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188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13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998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ACDF2-996E-8899-C8F7-F9D03CC6C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7E004A-185B-DA5D-6A6C-A34E39E77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C78ACE-AC62-ED9B-7906-D37804F061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4657E-13DC-0E63-BE8E-167FD0B2F4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0274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22E01-81CF-1B08-D00A-A8652B8F1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2F4B1-AD67-0B3D-117F-1FCFF6F39C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489ED2-E1E1-6EE7-F982-52371970B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11D1D-F99D-1FDC-7516-4A9D87C281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252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E8CE6-9BAE-4CA3-4734-3F3E75A48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E2A333-99A9-5439-3CF0-77F02339A3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CDB870-0104-F36D-F0FB-E9A375271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593C7-D1CA-93BB-01FA-DB24890857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832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BD47B-DF65-3604-196E-9EB77E0F4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B7F28C-D687-0EEF-2773-5321F4DFC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9AC49E-85EC-161B-7D33-EF9FBEE0A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8BF83-C228-D0D0-9CAD-8105021F47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655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Tiếp</a:t>
            </a:r>
            <a:r>
              <a:rPr lang="en-US"/>
              <a:t> </a:t>
            </a:r>
            <a:r>
              <a:rPr lang="en-US" err="1"/>
              <a:t>đến</a:t>
            </a:r>
            <a:r>
              <a:rPr lang="en-US"/>
              <a:t> </a:t>
            </a:r>
            <a:r>
              <a:rPr lang="en-US" err="1"/>
              <a:t>nhóm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thực</a:t>
            </a:r>
            <a:r>
              <a:rPr lang="en-US"/>
              <a:t> </a:t>
            </a:r>
            <a:r>
              <a:rPr lang="en-US" err="1"/>
              <a:t>hiện</a:t>
            </a:r>
            <a:r>
              <a:rPr lang="en-US"/>
              <a:t> </a:t>
            </a:r>
            <a:r>
              <a:rPr lang="en-US" err="1"/>
              <a:t>khảo</a:t>
            </a:r>
            <a:r>
              <a:rPr lang="en-US"/>
              <a:t> </a:t>
            </a:r>
            <a:r>
              <a:rPr lang="en-US" err="1"/>
              <a:t>sát</a:t>
            </a:r>
            <a:r>
              <a:rPr lang="en-US"/>
              <a:t> </a:t>
            </a:r>
            <a:r>
              <a:rPr lang="en-US" err="1"/>
              <a:t>như</a:t>
            </a:r>
            <a:r>
              <a:rPr lang="en-US"/>
              <a:t> </a:t>
            </a:r>
            <a:r>
              <a:rPr lang="en-US" err="1"/>
              <a:t>cầu</a:t>
            </a:r>
            <a:r>
              <a:rPr lang="en-US"/>
              <a:t> </a:t>
            </a:r>
            <a:r>
              <a:rPr lang="en-US" err="1"/>
              <a:t>sử</a:t>
            </a:r>
            <a:r>
              <a:rPr lang="en-US"/>
              <a:t> </a:t>
            </a:r>
            <a:r>
              <a:rPr lang="en-US" err="1"/>
              <a:t>dụng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mềm</a:t>
            </a:r>
            <a:r>
              <a:rPr lang="en-US"/>
              <a:t> </a:t>
            </a:r>
            <a:r>
              <a:rPr lang="en-US" err="1"/>
              <a:t>trên</a:t>
            </a:r>
            <a:r>
              <a:rPr lang="en-US"/>
              <a:t> </a:t>
            </a:r>
            <a:r>
              <a:rPr lang="en-US" err="1"/>
              <a:t>thực</a:t>
            </a:r>
            <a:r>
              <a:rPr lang="en-US"/>
              <a:t> </a:t>
            </a:r>
            <a:r>
              <a:rPr lang="en-US" err="1"/>
              <a:t>tế</a:t>
            </a:r>
            <a:endParaRPr lang="en-US"/>
          </a:p>
          <a:p>
            <a:r>
              <a:rPr lang="en-US" err="1"/>
              <a:t>Bọn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khảo</a:t>
            </a:r>
            <a:r>
              <a:rPr lang="en-US"/>
              <a:t> </a:t>
            </a:r>
            <a:r>
              <a:rPr lang="en-US" err="1"/>
              <a:t>sát</a:t>
            </a:r>
            <a:r>
              <a:rPr lang="en-US"/>
              <a:t> </a:t>
            </a:r>
            <a:r>
              <a:rPr lang="en-US" err="1"/>
              <a:t>trên</a:t>
            </a:r>
            <a:r>
              <a:rPr lang="en-US"/>
              <a:t> 1 </a:t>
            </a:r>
            <a:r>
              <a:rPr lang="en-US" err="1"/>
              <a:t>vài</a:t>
            </a:r>
            <a:r>
              <a:rPr lang="en-US"/>
              <a:t> </a:t>
            </a:r>
            <a:r>
              <a:rPr lang="en-US" err="1"/>
              <a:t>đối</a:t>
            </a:r>
            <a:r>
              <a:rPr lang="en-US"/>
              <a:t> </a:t>
            </a:r>
            <a:r>
              <a:rPr lang="en-US" err="1"/>
              <a:t>tượng</a:t>
            </a:r>
            <a:r>
              <a:rPr lang="en-US"/>
              <a:t> </a:t>
            </a:r>
            <a:r>
              <a:rPr lang="en-US" err="1"/>
              <a:t>như</a:t>
            </a:r>
            <a:r>
              <a:rPr lang="en-US"/>
              <a:t> </a:t>
            </a:r>
            <a:r>
              <a:rPr lang="en-US" err="1"/>
              <a:t>giáo</a:t>
            </a:r>
            <a:r>
              <a:rPr lang="en-US"/>
              <a:t> </a:t>
            </a:r>
            <a:r>
              <a:rPr lang="en-US" err="1"/>
              <a:t>viên</a:t>
            </a:r>
            <a:r>
              <a:rPr lang="en-US"/>
              <a:t> </a:t>
            </a:r>
            <a:r>
              <a:rPr lang="en-US" err="1"/>
              <a:t>dạy</a:t>
            </a:r>
            <a:r>
              <a:rPr lang="en-US"/>
              <a:t> </a:t>
            </a:r>
            <a:r>
              <a:rPr lang="en-US" err="1"/>
              <a:t>ngôn</a:t>
            </a:r>
            <a:r>
              <a:rPr lang="en-US"/>
              <a:t> </a:t>
            </a:r>
            <a:r>
              <a:rPr lang="en-US" err="1"/>
              <a:t>ngữ</a:t>
            </a:r>
            <a:r>
              <a:rPr lang="en-US"/>
              <a:t> ký </a:t>
            </a:r>
            <a:r>
              <a:rPr lang="en-US" err="1"/>
              <a:t>hiệu</a:t>
            </a:r>
            <a:r>
              <a:rPr lang="en-US"/>
              <a:t>, người </a:t>
            </a:r>
            <a:r>
              <a:rPr lang="en-US" err="1"/>
              <a:t>câm</a:t>
            </a:r>
            <a:r>
              <a:rPr lang="en-US"/>
              <a:t> </a:t>
            </a:r>
            <a:r>
              <a:rPr lang="en-US" err="1"/>
              <a:t>điếc</a:t>
            </a:r>
            <a:r>
              <a:rPr lang="en-US"/>
              <a:t>, cha </a:t>
            </a:r>
            <a:r>
              <a:rPr lang="en-US" err="1"/>
              <a:t>mẹ</a:t>
            </a:r>
            <a:r>
              <a:rPr lang="en-US"/>
              <a:t> người </a:t>
            </a:r>
            <a:r>
              <a:rPr lang="en-US" err="1"/>
              <a:t>câm</a:t>
            </a:r>
            <a:r>
              <a:rPr lang="en-US"/>
              <a:t> </a:t>
            </a:r>
            <a:r>
              <a:rPr lang="en-US" err="1"/>
              <a:t>điếc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những</a:t>
            </a:r>
            <a:r>
              <a:rPr lang="en-US"/>
              <a:t> người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nhu</a:t>
            </a:r>
            <a:r>
              <a:rPr lang="en-US"/>
              <a:t> </a:t>
            </a:r>
            <a:r>
              <a:rPr lang="en-US" err="1"/>
              <a:t>cầu</a:t>
            </a:r>
            <a:r>
              <a:rPr lang="en-US"/>
              <a:t> </a:t>
            </a:r>
            <a:r>
              <a:rPr lang="en-US" err="1"/>
              <a:t>học</a:t>
            </a:r>
            <a:r>
              <a:rPr lang="en-US"/>
              <a:t> </a:t>
            </a:r>
            <a:r>
              <a:rPr lang="en-US" err="1"/>
              <a:t>nnkh</a:t>
            </a:r>
            <a:endParaRPr lang="en-US"/>
          </a:p>
          <a:p>
            <a:r>
              <a:rPr lang="en-US"/>
              <a:t>Sau </a:t>
            </a:r>
            <a:r>
              <a:rPr lang="en-US" err="1"/>
              <a:t>quá</a:t>
            </a:r>
            <a:r>
              <a:rPr lang="en-US"/>
              <a:t> </a:t>
            </a:r>
            <a:r>
              <a:rPr lang="en-US" err="1"/>
              <a:t>trình</a:t>
            </a:r>
            <a:r>
              <a:rPr lang="en-US"/>
              <a:t> </a:t>
            </a:r>
            <a:r>
              <a:rPr lang="en-US" err="1"/>
              <a:t>khảo</a:t>
            </a:r>
            <a:r>
              <a:rPr lang="en-US"/>
              <a:t> </a:t>
            </a:r>
            <a:r>
              <a:rPr lang="en-US" err="1"/>
              <a:t>sát</a:t>
            </a:r>
            <a:r>
              <a:rPr lang="en-US"/>
              <a:t> </a:t>
            </a:r>
            <a:r>
              <a:rPr lang="en-US" err="1"/>
              <a:t>hấu</a:t>
            </a:r>
            <a:r>
              <a:rPr lang="en-US"/>
              <a:t> </a:t>
            </a:r>
            <a:r>
              <a:rPr lang="en-US" err="1"/>
              <a:t>hết</a:t>
            </a:r>
            <a:r>
              <a:rPr lang="en-US"/>
              <a:t> </a:t>
            </a:r>
            <a:r>
              <a:rPr lang="en-US" err="1"/>
              <a:t>đều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mong</a:t>
            </a:r>
            <a:r>
              <a:rPr lang="en-US"/>
              <a:t> </a:t>
            </a:r>
            <a:r>
              <a:rPr lang="en-US" err="1"/>
              <a:t>muốn</a:t>
            </a:r>
            <a:r>
              <a:rPr lang="en-US"/>
              <a:t> </a:t>
            </a:r>
            <a:r>
              <a:rPr lang="en-US" err="1"/>
              <a:t>sử</a:t>
            </a:r>
            <a:r>
              <a:rPr lang="en-US"/>
              <a:t> </a:t>
            </a:r>
            <a:r>
              <a:rPr lang="en-US" err="1"/>
              <a:t>dụng</a:t>
            </a:r>
            <a:r>
              <a:rPr lang="en-US"/>
              <a:t>.</a:t>
            </a:r>
          </a:p>
          <a:p>
            <a:r>
              <a:rPr lang="en-US" err="1"/>
              <a:t>Tiếp</a:t>
            </a:r>
            <a:r>
              <a:rPr lang="en-US"/>
              <a:t> </a:t>
            </a:r>
            <a:r>
              <a:rPr lang="en-US" err="1"/>
              <a:t>theo</a:t>
            </a:r>
            <a:r>
              <a:rPr lang="en-US"/>
              <a:t> e </a:t>
            </a:r>
            <a:r>
              <a:rPr lang="en-US" err="1"/>
              <a:t>đi</a:t>
            </a:r>
            <a:r>
              <a:rPr lang="en-US"/>
              <a:t> </a:t>
            </a:r>
            <a:r>
              <a:rPr lang="en-US" err="1"/>
              <a:t>vào</a:t>
            </a:r>
            <a:r>
              <a:rPr lang="en-US"/>
              <a:t> </a:t>
            </a:r>
            <a:r>
              <a:rPr lang="en-US" err="1"/>
              <a:t>pttkht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9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90B0B-ACAC-CD89-40C1-E39178409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3E4534-98A0-4463-9835-4FB0B108B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F6CCE-C7AC-2214-8D4A-FBFB25C75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Tiếp</a:t>
            </a:r>
            <a:r>
              <a:rPr lang="en-US"/>
              <a:t> </a:t>
            </a:r>
            <a:r>
              <a:rPr lang="en-US" err="1"/>
              <a:t>đến</a:t>
            </a:r>
            <a:r>
              <a:rPr lang="en-US"/>
              <a:t> </a:t>
            </a:r>
            <a:r>
              <a:rPr lang="en-US" err="1"/>
              <a:t>nhóm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thực</a:t>
            </a:r>
            <a:r>
              <a:rPr lang="en-US"/>
              <a:t> </a:t>
            </a:r>
            <a:r>
              <a:rPr lang="en-US" err="1"/>
              <a:t>hiện</a:t>
            </a:r>
            <a:r>
              <a:rPr lang="en-US"/>
              <a:t> </a:t>
            </a:r>
            <a:r>
              <a:rPr lang="en-US" err="1"/>
              <a:t>khảo</a:t>
            </a:r>
            <a:r>
              <a:rPr lang="en-US"/>
              <a:t> </a:t>
            </a:r>
            <a:r>
              <a:rPr lang="en-US" err="1"/>
              <a:t>sát</a:t>
            </a:r>
            <a:r>
              <a:rPr lang="en-US"/>
              <a:t> </a:t>
            </a:r>
            <a:r>
              <a:rPr lang="en-US" err="1"/>
              <a:t>như</a:t>
            </a:r>
            <a:r>
              <a:rPr lang="en-US"/>
              <a:t> </a:t>
            </a:r>
            <a:r>
              <a:rPr lang="en-US" err="1"/>
              <a:t>cầu</a:t>
            </a:r>
            <a:r>
              <a:rPr lang="en-US"/>
              <a:t> </a:t>
            </a:r>
            <a:r>
              <a:rPr lang="en-US" err="1"/>
              <a:t>sử</a:t>
            </a:r>
            <a:r>
              <a:rPr lang="en-US"/>
              <a:t> </a:t>
            </a:r>
            <a:r>
              <a:rPr lang="en-US" err="1"/>
              <a:t>dụng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mềm</a:t>
            </a:r>
            <a:r>
              <a:rPr lang="en-US"/>
              <a:t> </a:t>
            </a:r>
            <a:r>
              <a:rPr lang="en-US" err="1"/>
              <a:t>trên</a:t>
            </a:r>
            <a:r>
              <a:rPr lang="en-US"/>
              <a:t> </a:t>
            </a:r>
            <a:r>
              <a:rPr lang="en-US" err="1"/>
              <a:t>thực</a:t>
            </a:r>
            <a:r>
              <a:rPr lang="en-US"/>
              <a:t> </a:t>
            </a:r>
            <a:r>
              <a:rPr lang="en-US" err="1"/>
              <a:t>tế</a:t>
            </a:r>
            <a:endParaRPr lang="en-US"/>
          </a:p>
          <a:p>
            <a:r>
              <a:rPr lang="en-US" err="1"/>
              <a:t>Bọn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khảo</a:t>
            </a:r>
            <a:r>
              <a:rPr lang="en-US"/>
              <a:t> </a:t>
            </a:r>
            <a:r>
              <a:rPr lang="en-US" err="1"/>
              <a:t>sát</a:t>
            </a:r>
            <a:r>
              <a:rPr lang="en-US"/>
              <a:t> </a:t>
            </a:r>
            <a:r>
              <a:rPr lang="en-US" err="1"/>
              <a:t>trên</a:t>
            </a:r>
            <a:r>
              <a:rPr lang="en-US"/>
              <a:t> 1 </a:t>
            </a:r>
            <a:r>
              <a:rPr lang="en-US" err="1"/>
              <a:t>vài</a:t>
            </a:r>
            <a:r>
              <a:rPr lang="en-US"/>
              <a:t> </a:t>
            </a:r>
            <a:r>
              <a:rPr lang="en-US" err="1"/>
              <a:t>đối</a:t>
            </a:r>
            <a:r>
              <a:rPr lang="en-US"/>
              <a:t> </a:t>
            </a:r>
            <a:r>
              <a:rPr lang="en-US" err="1"/>
              <a:t>tượng</a:t>
            </a:r>
            <a:r>
              <a:rPr lang="en-US"/>
              <a:t> </a:t>
            </a:r>
            <a:r>
              <a:rPr lang="en-US" err="1"/>
              <a:t>như</a:t>
            </a:r>
            <a:r>
              <a:rPr lang="en-US"/>
              <a:t> </a:t>
            </a:r>
            <a:r>
              <a:rPr lang="en-US" err="1"/>
              <a:t>giáo</a:t>
            </a:r>
            <a:r>
              <a:rPr lang="en-US"/>
              <a:t> </a:t>
            </a:r>
            <a:r>
              <a:rPr lang="en-US" err="1"/>
              <a:t>viên</a:t>
            </a:r>
            <a:r>
              <a:rPr lang="en-US"/>
              <a:t> </a:t>
            </a:r>
            <a:r>
              <a:rPr lang="en-US" err="1"/>
              <a:t>dạy</a:t>
            </a:r>
            <a:r>
              <a:rPr lang="en-US"/>
              <a:t> </a:t>
            </a:r>
            <a:r>
              <a:rPr lang="en-US" err="1"/>
              <a:t>ngôn</a:t>
            </a:r>
            <a:r>
              <a:rPr lang="en-US"/>
              <a:t> </a:t>
            </a:r>
            <a:r>
              <a:rPr lang="en-US" err="1"/>
              <a:t>ngữ</a:t>
            </a:r>
            <a:r>
              <a:rPr lang="en-US"/>
              <a:t> ký </a:t>
            </a:r>
            <a:r>
              <a:rPr lang="en-US" err="1"/>
              <a:t>hiệu</a:t>
            </a:r>
            <a:r>
              <a:rPr lang="en-US"/>
              <a:t>, người </a:t>
            </a:r>
            <a:r>
              <a:rPr lang="en-US" err="1"/>
              <a:t>câm</a:t>
            </a:r>
            <a:r>
              <a:rPr lang="en-US"/>
              <a:t> </a:t>
            </a:r>
            <a:r>
              <a:rPr lang="en-US" err="1"/>
              <a:t>điếc</a:t>
            </a:r>
            <a:r>
              <a:rPr lang="en-US"/>
              <a:t>, cha </a:t>
            </a:r>
            <a:r>
              <a:rPr lang="en-US" err="1"/>
              <a:t>mẹ</a:t>
            </a:r>
            <a:r>
              <a:rPr lang="en-US"/>
              <a:t> người </a:t>
            </a:r>
            <a:r>
              <a:rPr lang="en-US" err="1"/>
              <a:t>câm</a:t>
            </a:r>
            <a:r>
              <a:rPr lang="en-US"/>
              <a:t> </a:t>
            </a:r>
            <a:r>
              <a:rPr lang="en-US" err="1"/>
              <a:t>điếc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những</a:t>
            </a:r>
            <a:r>
              <a:rPr lang="en-US"/>
              <a:t> người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nhu</a:t>
            </a:r>
            <a:r>
              <a:rPr lang="en-US"/>
              <a:t> </a:t>
            </a:r>
            <a:r>
              <a:rPr lang="en-US" err="1"/>
              <a:t>cầu</a:t>
            </a:r>
            <a:r>
              <a:rPr lang="en-US"/>
              <a:t> </a:t>
            </a:r>
            <a:r>
              <a:rPr lang="en-US" err="1"/>
              <a:t>học</a:t>
            </a:r>
            <a:r>
              <a:rPr lang="en-US"/>
              <a:t> </a:t>
            </a:r>
            <a:r>
              <a:rPr lang="en-US" err="1"/>
              <a:t>nnkh</a:t>
            </a:r>
            <a:endParaRPr lang="en-US"/>
          </a:p>
          <a:p>
            <a:r>
              <a:rPr lang="en-US"/>
              <a:t>Sau </a:t>
            </a:r>
            <a:r>
              <a:rPr lang="en-US" err="1"/>
              <a:t>quá</a:t>
            </a:r>
            <a:r>
              <a:rPr lang="en-US"/>
              <a:t> </a:t>
            </a:r>
            <a:r>
              <a:rPr lang="en-US" err="1"/>
              <a:t>trình</a:t>
            </a:r>
            <a:r>
              <a:rPr lang="en-US"/>
              <a:t> </a:t>
            </a:r>
            <a:r>
              <a:rPr lang="en-US" err="1"/>
              <a:t>khảo</a:t>
            </a:r>
            <a:r>
              <a:rPr lang="en-US"/>
              <a:t> </a:t>
            </a:r>
            <a:r>
              <a:rPr lang="en-US" err="1"/>
              <a:t>sát</a:t>
            </a:r>
            <a:r>
              <a:rPr lang="en-US"/>
              <a:t> </a:t>
            </a:r>
            <a:r>
              <a:rPr lang="en-US" err="1"/>
              <a:t>hấu</a:t>
            </a:r>
            <a:r>
              <a:rPr lang="en-US"/>
              <a:t> </a:t>
            </a:r>
            <a:r>
              <a:rPr lang="en-US" err="1"/>
              <a:t>hết</a:t>
            </a:r>
            <a:r>
              <a:rPr lang="en-US"/>
              <a:t> </a:t>
            </a:r>
            <a:r>
              <a:rPr lang="en-US" err="1"/>
              <a:t>đều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mong</a:t>
            </a:r>
            <a:r>
              <a:rPr lang="en-US"/>
              <a:t> </a:t>
            </a:r>
            <a:r>
              <a:rPr lang="en-US" err="1"/>
              <a:t>muốn</a:t>
            </a:r>
            <a:r>
              <a:rPr lang="en-US"/>
              <a:t> </a:t>
            </a:r>
            <a:r>
              <a:rPr lang="en-US" err="1"/>
              <a:t>sử</a:t>
            </a:r>
            <a:r>
              <a:rPr lang="en-US"/>
              <a:t> </a:t>
            </a:r>
            <a:r>
              <a:rPr lang="en-US" err="1"/>
              <a:t>dụng</a:t>
            </a:r>
            <a:r>
              <a:rPr lang="en-US"/>
              <a:t>.</a:t>
            </a:r>
          </a:p>
          <a:p>
            <a:r>
              <a:rPr lang="en-US" err="1"/>
              <a:t>Tiếp</a:t>
            </a:r>
            <a:r>
              <a:rPr lang="en-US"/>
              <a:t> </a:t>
            </a:r>
            <a:r>
              <a:rPr lang="en-US" err="1"/>
              <a:t>theo</a:t>
            </a:r>
            <a:r>
              <a:rPr lang="en-US"/>
              <a:t> e </a:t>
            </a:r>
            <a:r>
              <a:rPr lang="en-US" err="1"/>
              <a:t>đi</a:t>
            </a:r>
            <a:r>
              <a:rPr lang="en-US"/>
              <a:t> </a:t>
            </a:r>
            <a:r>
              <a:rPr lang="en-US" err="1"/>
              <a:t>vào</a:t>
            </a:r>
            <a:r>
              <a:rPr lang="en-US"/>
              <a:t> </a:t>
            </a:r>
            <a:r>
              <a:rPr lang="en-US" err="1"/>
              <a:t>pttkht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E972A-4C4B-08C5-6F96-686D893338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223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9219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80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1131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3" r:id="rId2"/>
    <p:sldLayoutId id="2147483679" r:id="rId3"/>
    <p:sldLayoutId id="2147483680" r:id="rId4"/>
    <p:sldLayoutId id="2147483681" r:id="rId5"/>
    <p:sldLayoutId id="2147483682" r:id="rId6"/>
    <p:sldLayoutId id="2147483678" r:id="rId7"/>
    <p:sldLayoutId id="2147483685" r:id="rId8"/>
    <p:sldLayoutId id="2147483686" r:id="rId9"/>
    <p:sldLayoutId id="2147483687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qipedc.moet.gov.vn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qipedc.moet.gov.vn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qipedc.moet.gov.vn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qipedc.moet.gov.vn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qipedc.moet.gov.vn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1670150"/>
            <a:ext cx="7336402" cy="141421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algn="ctr"/>
            <a:r>
              <a:rPr lang="en-US" sz="3200" dirty="0">
                <a:latin typeface="Lato"/>
                <a:ea typeface="Lato"/>
                <a:cs typeface="Lato"/>
              </a:rPr>
              <a:t>Báo cáo tiến </a:t>
            </a:r>
            <a:r>
              <a:rPr lang="en-US" sz="3200" dirty="0" err="1">
                <a:latin typeface="Lato"/>
                <a:ea typeface="Lato"/>
                <a:cs typeface="Lato"/>
              </a:rPr>
              <a:t>độ</a:t>
            </a:r>
            <a:r>
              <a:rPr lang="en-US" sz="3200" dirty="0">
                <a:latin typeface="Lato"/>
                <a:ea typeface="Lato"/>
                <a:cs typeface="Lato"/>
              </a:rPr>
              <a:t> BTL LTMM</a:t>
            </a:r>
          </a:p>
          <a:p>
            <a:pPr algn="ctr"/>
            <a:r>
              <a:rPr lang="en-US" sz="3200" dirty="0" err="1">
                <a:latin typeface="Lato"/>
                <a:ea typeface="Lato"/>
                <a:cs typeface="Lato"/>
              </a:rPr>
              <a:t>Đề</a:t>
            </a:r>
            <a:r>
              <a:rPr lang="en-US" sz="3200" dirty="0">
                <a:latin typeface="Lato"/>
                <a:ea typeface="Lato"/>
                <a:cs typeface="Lato"/>
              </a:rPr>
              <a:t> </a:t>
            </a:r>
            <a:r>
              <a:rPr lang="en-US" sz="3200" dirty="0" err="1">
                <a:latin typeface="Lato"/>
                <a:ea typeface="Lato"/>
                <a:cs typeface="Lato"/>
              </a:rPr>
              <a:t>tài</a:t>
            </a:r>
            <a:r>
              <a:rPr lang="en-US" sz="3200" dirty="0">
                <a:latin typeface="Lato"/>
                <a:ea typeface="Lato"/>
                <a:cs typeface="Lato"/>
              </a:rPr>
              <a:t> : Tìm hiểu </a:t>
            </a:r>
            <a:r>
              <a:rPr lang="en-US" sz="3200" dirty="0" err="1">
                <a:latin typeface="Lato"/>
                <a:ea typeface="Lato"/>
                <a:cs typeface="Lato"/>
              </a:rPr>
              <a:t>và</a:t>
            </a:r>
            <a:r>
              <a:rPr lang="en-US" sz="3200" dirty="0">
                <a:latin typeface="Lato"/>
                <a:ea typeface="Lato"/>
                <a:cs typeface="Lato"/>
              </a:rPr>
              <a:t> </a:t>
            </a:r>
            <a:r>
              <a:rPr lang="en-US" sz="3200" dirty="0" err="1">
                <a:latin typeface="Lato"/>
                <a:ea typeface="Lato"/>
                <a:cs typeface="Lato"/>
              </a:rPr>
              <a:t>xây</a:t>
            </a:r>
            <a:r>
              <a:rPr lang="en-US" sz="3200" dirty="0">
                <a:latin typeface="Lato"/>
                <a:ea typeface="Lato"/>
                <a:cs typeface="Lato"/>
              </a:rPr>
              <a:t> </a:t>
            </a:r>
            <a:r>
              <a:rPr lang="en-US" sz="3200" dirty="0" err="1">
                <a:latin typeface="Lato"/>
                <a:ea typeface="Lato"/>
                <a:cs typeface="Lato"/>
              </a:rPr>
              <a:t>dựng</a:t>
            </a:r>
            <a:r>
              <a:rPr lang="en-US" sz="3200" dirty="0">
                <a:latin typeface="Lato"/>
                <a:ea typeface="Lato"/>
                <a:cs typeface="Lato"/>
              </a:rPr>
              <a:t> </a:t>
            </a:r>
            <a:r>
              <a:rPr lang="en-US" sz="3200" dirty="0" err="1">
                <a:latin typeface="Lato"/>
                <a:ea typeface="Lato"/>
                <a:cs typeface="Lato"/>
              </a:rPr>
              <a:t>thuật</a:t>
            </a:r>
            <a:r>
              <a:rPr lang="en-US" sz="3200" dirty="0">
                <a:latin typeface="Lato"/>
                <a:ea typeface="Lato"/>
                <a:cs typeface="Lato"/>
              </a:rPr>
              <a:t> </a:t>
            </a:r>
            <a:r>
              <a:rPr lang="en-US" sz="3200" dirty="0" err="1">
                <a:latin typeface="Lato"/>
                <a:ea typeface="Lato"/>
                <a:cs typeface="Lato"/>
              </a:rPr>
              <a:t>toán</a:t>
            </a:r>
            <a:r>
              <a:rPr lang="en-US" sz="3200" dirty="0">
                <a:latin typeface="Lato"/>
                <a:ea typeface="Lato"/>
                <a:cs typeface="Lato"/>
              </a:rPr>
              <a:t> HC -128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2452590" y="3078415"/>
            <a:ext cx="8456277" cy="217749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algn="ctr"/>
            <a:endParaRPr lang="en-US" sz="2800" dirty="0">
              <a:latin typeface="Lato"/>
              <a:ea typeface="Lato"/>
              <a:cs typeface="Lato"/>
            </a:endParaRPr>
          </a:p>
          <a:p>
            <a:r>
              <a:rPr lang="en-US" sz="2000">
                <a:latin typeface="Lato"/>
                <a:ea typeface="Lato"/>
                <a:cs typeface="Lato"/>
              </a:rPr>
              <a:t>GVHD:  </a:t>
            </a:r>
            <a:r>
              <a:rPr lang="en-US" sz="2000" b="0">
                <a:latin typeface="Lato"/>
                <a:ea typeface="Lato"/>
                <a:cs typeface="Lato"/>
              </a:rPr>
              <a:t>T</a:t>
            </a:r>
            <a:r>
              <a:rPr lang="en-US" sz="2000" b="0" i="1">
                <a:latin typeface="Lato"/>
                <a:ea typeface="Lato"/>
                <a:cs typeface="Lato"/>
              </a:rPr>
              <a:t>S. </a:t>
            </a:r>
            <a:r>
              <a:rPr lang="en-US" sz="2000" b="0" i="1" dirty="0" err="1">
                <a:latin typeface="Lato"/>
                <a:ea typeface="Lato"/>
                <a:cs typeface="Lato"/>
              </a:rPr>
              <a:t>Tạ</a:t>
            </a:r>
            <a:r>
              <a:rPr lang="en-US" sz="2000" b="0" i="1" dirty="0">
                <a:latin typeface="Lato"/>
                <a:ea typeface="Lato"/>
                <a:cs typeface="Lato"/>
              </a:rPr>
              <a:t> Thị Kim Huệ</a:t>
            </a:r>
          </a:p>
          <a:p>
            <a:r>
              <a:rPr lang="en-US" sz="2000" b="0" i="1" dirty="0">
                <a:latin typeface="Lato"/>
                <a:ea typeface="Lato"/>
                <a:cs typeface="Lato"/>
              </a:rPr>
              <a:t>	</a:t>
            </a:r>
          </a:p>
          <a:p>
            <a:r>
              <a:rPr lang="en-US" sz="2000" dirty="0">
                <a:latin typeface="Lato"/>
                <a:ea typeface="Lato"/>
                <a:cs typeface="Lato"/>
              </a:rPr>
              <a:t>Sinh </a:t>
            </a:r>
            <a:r>
              <a:rPr lang="en-US" sz="2000" dirty="0" err="1">
                <a:latin typeface="Lato"/>
                <a:ea typeface="Lato"/>
                <a:cs typeface="Lato"/>
              </a:rPr>
              <a:t>viên</a:t>
            </a:r>
            <a:r>
              <a:rPr lang="en-US" sz="2000" dirty="0">
                <a:latin typeface="Lato"/>
                <a:ea typeface="Lato"/>
                <a:cs typeface="Lato"/>
              </a:rPr>
              <a:t>:  </a:t>
            </a:r>
            <a:r>
              <a:rPr lang="en-US" sz="2000" b="0" dirty="0" err="1">
                <a:latin typeface="Lato"/>
                <a:ea typeface="Lato"/>
                <a:cs typeface="Lato"/>
              </a:rPr>
              <a:t>Nhóm</a:t>
            </a:r>
            <a:r>
              <a:rPr lang="en-US" sz="2000" b="0" dirty="0">
                <a:latin typeface="Lato"/>
                <a:ea typeface="Lato"/>
                <a:cs typeface="Lato"/>
              </a:rPr>
              <a:t> 4 - </a:t>
            </a:r>
            <a:r>
              <a:rPr lang="en-US" sz="2000" b="0" dirty="0" err="1">
                <a:latin typeface="Lato"/>
                <a:ea typeface="Lato"/>
                <a:cs typeface="Lato"/>
              </a:rPr>
              <a:t>Mã</a:t>
            </a:r>
            <a:r>
              <a:rPr lang="en-US" sz="2000" b="0" dirty="0">
                <a:latin typeface="Lato"/>
                <a:ea typeface="Lato"/>
                <a:cs typeface="Lato"/>
              </a:rPr>
              <a:t> </a:t>
            </a:r>
            <a:r>
              <a:rPr lang="en-US" sz="2000" b="0" dirty="0" err="1">
                <a:latin typeface="Lato"/>
                <a:ea typeface="Lato"/>
                <a:cs typeface="Lato"/>
              </a:rPr>
              <a:t>lớp</a:t>
            </a:r>
            <a:r>
              <a:rPr lang="en-US" sz="2000" b="0" dirty="0">
                <a:latin typeface="Lato"/>
                <a:ea typeface="Lato"/>
                <a:cs typeface="Lato"/>
              </a:rPr>
              <a:t> 173869</a:t>
            </a:r>
            <a:endParaRPr lang="en-US" sz="2000" b="0" i="1" dirty="0"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7697B-E2F6-452F-B4AF-9444ACC6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25821" y="6403091"/>
            <a:ext cx="2057400" cy="365125"/>
          </a:xfrm>
        </p:spPr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Rectangle: Rounded Corners 24">
            <a:extLst>
              <a:ext uri="{FF2B5EF4-FFF2-40B4-BE49-F238E27FC236}">
                <a16:creationId xmlns:a16="http://schemas.microsoft.com/office/drawing/2014/main" id="{47A5565D-6125-70F8-B84A-A6D86C848AEB}"/>
              </a:ext>
            </a:extLst>
          </p:cNvPr>
          <p:cNvSpPr/>
          <p:nvPr/>
        </p:nvSpPr>
        <p:spPr>
          <a:xfrm>
            <a:off x="3663496" y="1341642"/>
            <a:ext cx="5049040" cy="622852"/>
          </a:xfrm>
          <a:prstGeom prst="roundRect">
            <a:avLst>
              <a:gd name="adj" fmla="val 37481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8000"/>
              </a:highlight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93DF7AF-40EA-9670-8A63-06C7CEF934CE}"/>
              </a:ext>
            </a:extLst>
          </p:cNvPr>
          <p:cNvSpPr txBox="1">
            <a:spLocks/>
          </p:cNvSpPr>
          <p:nvPr/>
        </p:nvSpPr>
        <p:spPr>
          <a:xfrm>
            <a:off x="4180967" y="1447903"/>
            <a:ext cx="3773554" cy="5730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>
                <a:solidFill>
                  <a:schemeClr val="bg1"/>
                </a:solidFill>
                <a:latin typeface="+mn-lt"/>
                <a:ea typeface="Tahoma"/>
                <a:cs typeface="Times New Roman"/>
              </a:rPr>
              <a:t>GIỚI THIỆU VỀ TT HC 128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AAF249B5-E492-A97E-EE7A-52147BF4B1B9}"/>
              </a:ext>
            </a:extLst>
          </p:cNvPr>
          <p:cNvSpPr txBox="1">
            <a:spLocks/>
          </p:cNvSpPr>
          <p:nvPr/>
        </p:nvSpPr>
        <p:spPr>
          <a:xfrm>
            <a:off x="4998677" y="2134011"/>
            <a:ext cx="3881225" cy="76830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40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B8D01979-632F-64F6-5629-8BEB2FCEA31B}"/>
              </a:ext>
            </a:extLst>
          </p:cNvPr>
          <p:cNvSpPr/>
          <p:nvPr/>
        </p:nvSpPr>
        <p:spPr>
          <a:xfrm>
            <a:off x="3535015" y="1347570"/>
            <a:ext cx="645952" cy="622852"/>
          </a:xfrm>
          <a:prstGeom prst="flowChartConnector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1</a:t>
            </a:r>
          </a:p>
        </p:txBody>
      </p:sp>
      <p:sp>
        <p:nvSpPr>
          <p:cNvPr id="24" name="Rectangle: Rounded Corners 24">
            <a:extLst>
              <a:ext uri="{FF2B5EF4-FFF2-40B4-BE49-F238E27FC236}">
                <a16:creationId xmlns:a16="http://schemas.microsoft.com/office/drawing/2014/main" id="{EA321872-4A87-37CC-B9CD-2E8E728BF1C1}"/>
              </a:ext>
            </a:extLst>
          </p:cNvPr>
          <p:cNvSpPr/>
          <p:nvPr/>
        </p:nvSpPr>
        <p:spPr>
          <a:xfrm>
            <a:off x="3605488" y="3370440"/>
            <a:ext cx="5081196" cy="622852"/>
          </a:xfrm>
          <a:prstGeom prst="roundRect">
            <a:avLst>
              <a:gd name="adj" fmla="val 37481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8000"/>
              </a:highlight>
            </a:endParaRPr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E237DE9D-E96B-81E6-7BD9-BBC0B7E374AF}"/>
              </a:ext>
            </a:extLst>
          </p:cNvPr>
          <p:cNvSpPr/>
          <p:nvPr/>
        </p:nvSpPr>
        <p:spPr>
          <a:xfrm>
            <a:off x="3605488" y="3387577"/>
            <a:ext cx="645952" cy="622852"/>
          </a:xfrm>
          <a:prstGeom prst="flowChartConnector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3</a:t>
            </a:r>
          </a:p>
        </p:txBody>
      </p:sp>
      <p:sp>
        <p:nvSpPr>
          <p:cNvPr id="40" name="Rectangle: Rounded Corners 24">
            <a:extLst>
              <a:ext uri="{FF2B5EF4-FFF2-40B4-BE49-F238E27FC236}">
                <a16:creationId xmlns:a16="http://schemas.microsoft.com/office/drawing/2014/main" id="{C41A288D-12DC-F9CA-14D1-A31D4F622DFA}"/>
              </a:ext>
            </a:extLst>
          </p:cNvPr>
          <p:cNvSpPr/>
          <p:nvPr/>
        </p:nvSpPr>
        <p:spPr>
          <a:xfrm>
            <a:off x="3653447" y="2359005"/>
            <a:ext cx="5097975" cy="622852"/>
          </a:xfrm>
          <a:prstGeom prst="roundRect">
            <a:avLst>
              <a:gd name="adj" fmla="val 37481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008000"/>
              </a:highlight>
            </a:endParaRPr>
          </a:p>
        </p:txBody>
      </p: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E8C8286B-211C-DD68-3C94-C2D2061A1786}"/>
              </a:ext>
            </a:extLst>
          </p:cNvPr>
          <p:cNvSpPr/>
          <p:nvPr/>
        </p:nvSpPr>
        <p:spPr>
          <a:xfrm>
            <a:off x="3524967" y="2359005"/>
            <a:ext cx="645952" cy="622852"/>
          </a:xfrm>
          <a:prstGeom prst="flowChartConnector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2</a:t>
            </a:r>
          </a:p>
        </p:txBody>
      </p:sp>
      <p:sp>
        <p:nvSpPr>
          <p:cNvPr id="48" name="Text Placeholder 5">
            <a:extLst>
              <a:ext uri="{FF2B5EF4-FFF2-40B4-BE49-F238E27FC236}">
                <a16:creationId xmlns:a16="http://schemas.microsoft.com/office/drawing/2014/main" id="{FE7288E9-72D0-0DD5-D736-8875AF490FA2}"/>
              </a:ext>
            </a:extLst>
          </p:cNvPr>
          <p:cNvSpPr txBox="1">
            <a:spLocks/>
          </p:cNvSpPr>
          <p:nvPr/>
        </p:nvSpPr>
        <p:spPr>
          <a:xfrm>
            <a:off x="4170918" y="2446799"/>
            <a:ext cx="4935901" cy="5730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>
                <a:solidFill>
                  <a:schemeClr val="bg1"/>
                </a:solidFill>
                <a:latin typeface="Arial"/>
                <a:ea typeface="Tahoma"/>
                <a:cs typeface="Arial"/>
              </a:rPr>
              <a:t>CƠ SỞ LÝ THUYẾT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7AAE16E7-AF89-910F-7ECE-60105D49078C}"/>
              </a:ext>
            </a:extLst>
          </p:cNvPr>
          <p:cNvSpPr txBox="1">
            <a:spLocks/>
          </p:cNvSpPr>
          <p:nvPr/>
        </p:nvSpPr>
        <p:spPr>
          <a:xfrm>
            <a:off x="4251438" y="3489311"/>
            <a:ext cx="4357627" cy="42158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CẤU </a:t>
            </a:r>
            <a:r>
              <a:rPr lang="en-US" sz="2400" b="1">
                <a:solidFill>
                  <a:schemeClr val="bg1"/>
                </a:solidFill>
                <a:latin typeface="Arial"/>
                <a:ea typeface="Tahoma"/>
                <a:cs typeface="Arial"/>
              </a:rPr>
              <a:t>TRÚC</a:t>
            </a:r>
            <a:r>
              <a:rPr lang="en-US" sz="2400" b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 DỰ ÁN</a:t>
            </a:r>
          </a:p>
        </p:txBody>
      </p:sp>
      <p:sp>
        <p:nvSpPr>
          <p:cNvPr id="7" name="Rectangle: Rounded Corners 24">
            <a:extLst>
              <a:ext uri="{FF2B5EF4-FFF2-40B4-BE49-F238E27FC236}">
                <a16:creationId xmlns:a16="http://schemas.microsoft.com/office/drawing/2014/main" id="{0808C79D-5754-CEFD-5FBF-F277C832281A}"/>
              </a:ext>
            </a:extLst>
          </p:cNvPr>
          <p:cNvSpPr/>
          <p:nvPr/>
        </p:nvSpPr>
        <p:spPr>
          <a:xfrm>
            <a:off x="3635886" y="4422242"/>
            <a:ext cx="5081196" cy="622852"/>
          </a:xfrm>
          <a:prstGeom prst="roundRect">
            <a:avLst>
              <a:gd name="adj" fmla="val 37481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8000"/>
              </a:highlight>
            </a:endParaRP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BE7926C7-C471-ACB9-4E6D-11C29E859AA9}"/>
              </a:ext>
            </a:extLst>
          </p:cNvPr>
          <p:cNvSpPr/>
          <p:nvPr/>
        </p:nvSpPr>
        <p:spPr>
          <a:xfrm>
            <a:off x="3635886" y="4439379"/>
            <a:ext cx="645952" cy="622852"/>
          </a:xfrm>
          <a:prstGeom prst="flowChartConnector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ea typeface="Calibri"/>
                <a:cs typeface="Calibri"/>
              </a:rPr>
              <a:t>4</a:t>
            </a:r>
            <a:endParaRPr lang="en-US" sz="2800" b="1" dirty="0">
              <a:ea typeface="Calibri"/>
              <a:cs typeface="Calibri"/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3D7F4CA5-DA4B-8F20-527D-F7DC6A9415BB}"/>
              </a:ext>
            </a:extLst>
          </p:cNvPr>
          <p:cNvSpPr txBox="1">
            <a:spLocks/>
          </p:cNvSpPr>
          <p:nvPr/>
        </p:nvSpPr>
        <p:spPr>
          <a:xfrm>
            <a:off x="4281836" y="4541113"/>
            <a:ext cx="4357627" cy="42158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>
                <a:solidFill>
                  <a:schemeClr val="bg1"/>
                </a:solidFill>
                <a:latin typeface="Tahoma"/>
                <a:ea typeface="Tahoma"/>
                <a:cs typeface="Tahoma"/>
              </a:rPr>
              <a:t>KỊCH BẢN KIỂM THỬ</a:t>
            </a:r>
          </a:p>
        </p:txBody>
      </p:sp>
    </p:spTree>
    <p:extLst>
      <p:ext uri="{BB962C8B-B14F-4D97-AF65-F5344CB8AC3E}">
        <p14:creationId xmlns:p14="http://schemas.microsoft.com/office/powerpoint/2010/main" val="2472795383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US" dirty="0">
                <a:latin typeface="Lato"/>
                <a:ea typeface="Lato"/>
                <a:cs typeface="Lato"/>
              </a:rPr>
              <a:t>1. Giới thiệu về </a:t>
            </a:r>
            <a:r>
              <a:rPr lang="en-US" dirty="0" err="1">
                <a:latin typeface="Lato"/>
                <a:ea typeface="Lato"/>
                <a:cs typeface="Lato"/>
              </a:rPr>
              <a:t>thuật</a:t>
            </a:r>
            <a:r>
              <a:rPr lang="en-US" dirty="0">
                <a:latin typeface="Lato"/>
                <a:ea typeface="Lato"/>
                <a:cs typeface="Lato"/>
              </a:rPr>
              <a:t> </a:t>
            </a:r>
            <a:r>
              <a:rPr lang="en-US" dirty="0" err="1">
                <a:latin typeface="Lato"/>
                <a:ea typeface="Lato"/>
                <a:cs typeface="Lato"/>
              </a:rPr>
              <a:t>toán</a:t>
            </a:r>
            <a:r>
              <a:rPr lang="en-US" dirty="0">
                <a:latin typeface="Lato"/>
                <a:ea typeface="Lato"/>
                <a:cs typeface="Lato"/>
              </a:rPr>
              <a:t> HC 128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 txBox="1">
            <a:spLocks/>
          </p:cNvSpPr>
          <p:nvPr/>
        </p:nvSpPr>
        <p:spPr>
          <a:xfrm>
            <a:off x="254052" y="744797"/>
            <a:ext cx="8028720" cy="44789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1.1. </a:t>
            </a:r>
            <a:r>
              <a:rPr lang="en-US" sz="2000" dirty="0" err="1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Thuật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toán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 HC 128</a:t>
            </a:r>
            <a:endParaRPr lang="en-US" sz="2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AutoShape 2" descr="First slide">
            <a:extLst>
              <a:ext uri="{FF2B5EF4-FFF2-40B4-BE49-F238E27FC236}">
                <a16:creationId xmlns:a16="http://schemas.microsoft.com/office/drawing/2014/main" id="{2C4D2210-9CD8-439F-47BA-EB145E3E59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3DC564-3096-45E1-CEFF-67E7F2001CC8}"/>
              </a:ext>
            </a:extLst>
          </p:cNvPr>
          <p:cNvSpPr txBox="1"/>
          <p:nvPr/>
        </p:nvSpPr>
        <p:spPr>
          <a:xfrm>
            <a:off x="525245" y="6151722"/>
            <a:ext cx="67427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[4] </a:t>
            </a:r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3"/>
              </a:rPr>
              <a:t>https://qipedc.moet.gov.vn</a:t>
            </a:r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endParaRPr lang="en-US" sz="800" u="sn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1EB1DA-3163-63DC-AC79-E50CAF2B3A18}"/>
              </a:ext>
            </a:extLst>
          </p:cNvPr>
          <p:cNvSpPr txBox="1"/>
          <p:nvPr/>
        </p:nvSpPr>
        <p:spPr>
          <a:xfrm>
            <a:off x="257908" y="1588477"/>
            <a:ext cx="457200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   HC-128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(Stream Cipher)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Hongjun Wu,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bố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2004.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bí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128 bit </a:t>
            </a:r>
            <a:r>
              <a:rPr lang="en-US" dirty="0" err="1"/>
              <a:t>và</a:t>
            </a:r>
            <a:r>
              <a:rPr lang="en-US" dirty="0"/>
              <a:t> vector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(IV) 128 bit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(keystream),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XOR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.</a:t>
            </a:r>
          </a:p>
          <a:p>
            <a:r>
              <a:rPr lang="en-US" dirty="0"/>
              <a:t>   HC-128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P </a:t>
            </a:r>
            <a:r>
              <a:rPr lang="en-US" dirty="0" err="1"/>
              <a:t>và</a:t>
            </a:r>
            <a:r>
              <a:rPr lang="en-US" dirty="0"/>
              <a:t> Q,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512 </a:t>
            </a:r>
            <a:r>
              <a:rPr lang="en-US" dirty="0" err="1"/>
              <a:t>từ</a:t>
            </a:r>
            <a:r>
              <a:rPr lang="en-US" dirty="0"/>
              <a:t> 32 bit,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.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792B83-CAF9-C715-D994-21DF6F91FD8F}"/>
              </a:ext>
            </a:extLst>
          </p:cNvPr>
          <p:cNvSpPr txBox="1"/>
          <p:nvPr/>
        </p:nvSpPr>
        <p:spPr>
          <a:xfrm>
            <a:off x="257908" y="5339862"/>
            <a:ext cx="4572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Nguyên </a:t>
            </a:r>
            <a:r>
              <a:rPr lang="en-US" b="1" dirty="0" err="1"/>
              <a:t>lý</a:t>
            </a:r>
            <a:r>
              <a:rPr lang="en-US" b="1" dirty="0"/>
              <a:t> </a:t>
            </a:r>
            <a:r>
              <a:rPr lang="en-US" b="1" dirty="0" err="1"/>
              <a:t>mã</a:t>
            </a:r>
            <a:r>
              <a:rPr lang="en-US" b="1" dirty="0"/>
              <a:t> </a:t>
            </a:r>
            <a:r>
              <a:rPr lang="en-US" b="1" dirty="0" err="1"/>
              <a:t>hóa</a:t>
            </a:r>
            <a:r>
              <a:rPr lang="en-US" b="1" dirty="0"/>
              <a:t>:</a:t>
            </a:r>
            <a:endParaRPr lang="en-US" b="1" dirty="0">
              <a:ea typeface="Calibri"/>
              <a:cs typeface="Calibri"/>
            </a:endParaRPr>
          </a:p>
          <a:p>
            <a:r>
              <a:rPr lang="en-US"/>
              <a:t>C = P XOR K </a:t>
            </a:r>
            <a:endParaRPr lang="en-US">
              <a:ea typeface="Calibri"/>
              <a:cs typeface="Calibri"/>
            </a:endParaRPr>
          </a:p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9EAA2D-C772-7A1F-D5F9-4A7DD361CD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144" y="1682262"/>
            <a:ext cx="3084635" cy="34934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F496F1-B47C-8DF4-C188-39E0F46E0E73}"/>
              </a:ext>
            </a:extLst>
          </p:cNvPr>
          <p:cNvSpPr txBox="1"/>
          <p:nvPr/>
        </p:nvSpPr>
        <p:spPr>
          <a:xfrm>
            <a:off x="5967047" y="5339862"/>
            <a:ext cx="225083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i="0">
                <a:solidFill>
                  <a:srgbClr val="333333"/>
                </a:solidFill>
                <a:latin typeface="Montserrat"/>
                <a:ea typeface="Montserrat"/>
                <a:cs typeface="Montserrat"/>
              </a:rPr>
              <a:t>Prof. Hongjun Wu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15979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5B089-244A-BBDB-3BE9-A2A1974F7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BDFA3F-E08E-FA91-3CB2-3E87D6DDA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7E2920-E379-FB36-5830-775298C87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US" dirty="0">
                <a:latin typeface="Lato"/>
                <a:ea typeface="Lato"/>
                <a:cs typeface="Lato"/>
              </a:rPr>
              <a:t>2. </a:t>
            </a:r>
            <a:r>
              <a:rPr lang="en-US" dirty="0" err="1">
                <a:latin typeface="Lato"/>
                <a:ea typeface="Lato"/>
                <a:cs typeface="Lato"/>
              </a:rPr>
              <a:t>Cơ</a:t>
            </a:r>
            <a:r>
              <a:rPr lang="en-US" dirty="0">
                <a:latin typeface="Lato"/>
                <a:ea typeface="Lato"/>
                <a:cs typeface="Lato"/>
              </a:rPr>
              <a:t> </a:t>
            </a:r>
            <a:r>
              <a:rPr lang="en-US" dirty="0" err="1">
                <a:latin typeface="Lato"/>
                <a:ea typeface="Lato"/>
                <a:cs typeface="Lato"/>
              </a:rPr>
              <a:t>sở</a:t>
            </a:r>
            <a:r>
              <a:rPr lang="en-US" dirty="0">
                <a:latin typeface="Lato"/>
                <a:ea typeface="Lato"/>
                <a:cs typeface="Lato"/>
              </a:rPr>
              <a:t> </a:t>
            </a:r>
            <a:r>
              <a:rPr lang="en-US" dirty="0" err="1">
                <a:latin typeface="Lato"/>
                <a:ea typeface="Lato"/>
                <a:cs typeface="Lato"/>
              </a:rPr>
              <a:t>lý</a:t>
            </a:r>
            <a:r>
              <a:rPr lang="en-US" dirty="0">
                <a:latin typeface="Lato"/>
                <a:ea typeface="Lato"/>
                <a:cs typeface="Lato"/>
              </a:rPr>
              <a:t> </a:t>
            </a:r>
            <a:r>
              <a:rPr lang="en-US" dirty="0" err="1">
                <a:latin typeface="Lato"/>
                <a:ea typeface="Lato"/>
                <a:cs typeface="Lato"/>
              </a:rPr>
              <a:t>thuyết</a:t>
            </a:r>
            <a:r>
              <a:rPr lang="en-US" dirty="0">
                <a:latin typeface="Lato"/>
                <a:ea typeface="Lato"/>
                <a:cs typeface="Lato"/>
              </a:rPr>
              <a:t> 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161E73C-85A7-81F9-E2C6-B9FF0C17C6D5}"/>
              </a:ext>
            </a:extLst>
          </p:cNvPr>
          <p:cNvSpPr txBox="1">
            <a:spLocks/>
          </p:cNvSpPr>
          <p:nvPr/>
        </p:nvSpPr>
        <p:spPr>
          <a:xfrm>
            <a:off x="254052" y="744797"/>
            <a:ext cx="8028720" cy="44789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2.1. Các </a:t>
            </a:r>
            <a:r>
              <a:rPr lang="en-US" sz="2000" dirty="0" err="1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phép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toán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sử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dụng</a:t>
            </a:r>
            <a:endParaRPr lang="en-US" sz="2000" dirty="0" err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AutoShape 2" descr="First slide">
            <a:extLst>
              <a:ext uri="{FF2B5EF4-FFF2-40B4-BE49-F238E27FC236}">
                <a16:creationId xmlns:a16="http://schemas.microsoft.com/office/drawing/2014/main" id="{BD9D7F21-D8A2-E1C7-7799-7091AEE5F6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A41A67-CD6C-5114-74A5-6AEE212AC564}"/>
              </a:ext>
            </a:extLst>
          </p:cNvPr>
          <p:cNvSpPr txBox="1"/>
          <p:nvPr/>
        </p:nvSpPr>
        <p:spPr>
          <a:xfrm>
            <a:off x="525245" y="6151722"/>
            <a:ext cx="67427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[4] </a:t>
            </a:r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3"/>
              </a:rPr>
              <a:t>https://qipedc.moet.gov.vn</a:t>
            </a:r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endParaRPr lang="en-US" sz="800" u="sn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7E5752-3E3A-88FF-78B1-F7E074B17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9048" y="1465385"/>
            <a:ext cx="5492119" cy="407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268625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C8446-9842-B3AE-3909-7111F2478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931BD0-7DEE-7C00-FC90-ED953E4F0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95DC8-F17A-671E-7701-AEAFC6595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US" dirty="0">
                <a:latin typeface="Lato"/>
                <a:ea typeface="Lato"/>
                <a:cs typeface="Lato"/>
              </a:rPr>
              <a:t>2. </a:t>
            </a:r>
            <a:r>
              <a:rPr lang="en-US" dirty="0" err="1">
                <a:latin typeface="Lato"/>
                <a:ea typeface="Lato"/>
                <a:cs typeface="Lato"/>
              </a:rPr>
              <a:t>Cơ</a:t>
            </a:r>
            <a:r>
              <a:rPr lang="en-US" dirty="0">
                <a:latin typeface="Lato"/>
                <a:ea typeface="Lato"/>
                <a:cs typeface="Lato"/>
              </a:rPr>
              <a:t> </a:t>
            </a:r>
            <a:r>
              <a:rPr lang="en-US" dirty="0" err="1">
                <a:latin typeface="Lato"/>
                <a:ea typeface="Lato"/>
                <a:cs typeface="Lato"/>
              </a:rPr>
              <a:t>sở</a:t>
            </a:r>
            <a:r>
              <a:rPr lang="en-US" dirty="0">
                <a:latin typeface="Lato"/>
                <a:ea typeface="Lato"/>
                <a:cs typeface="Lato"/>
              </a:rPr>
              <a:t> </a:t>
            </a:r>
            <a:r>
              <a:rPr lang="en-US" dirty="0" err="1">
                <a:latin typeface="Lato"/>
                <a:ea typeface="Lato"/>
                <a:cs typeface="Lato"/>
              </a:rPr>
              <a:t>lý</a:t>
            </a:r>
            <a:r>
              <a:rPr lang="en-US" dirty="0">
                <a:latin typeface="Lato"/>
                <a:ea typeface="Lato"/>
                <a:cs typeface="Lato"/>
              </a:rPr>
              <a:t> </a:t>
            </a:r>
            <a:r>
              <a:rPr lang="en-US" dirty="0" err="1">
                <a:latin typeface="Lato"/>
                <a:ea typeface="Lato"/>
                <a:cs typeface="Lato"/>
              </a:rPr>
              <a:t>thuyết</a:t>
            </a:r>
            <a:r>
              <a:rPr lang="en-US" dirty="0">
                <a:latin typeface="Lato"/>
                <a:ea typeface="Lato"/>
                <a:cs typeface="Lato"/>
              </a:rPr>
              <a:t> 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7FEED2A-A24D-D967-392C-643FA712AB98}"/>
              </a:ext>
            </a:extLst>
          </p:cNvPr>
          <p:cNvSpPr txBox="1">
            <a:spLocks/>
          </p:cNvSpPr>
          <p:nvPr/>
        </p:nvSpPr>
        <p:spPr>
          <a:xfrm>
            <a:off x="254052" y="744797"/>
            <a:ext cx="8028720" cy="44789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2.2. Quy </a:t>
            </a:r>
            <a:r>
              <a:rPr lang="en-US" sz="2000" dirty="0" err="1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trình</a:t>
            </a:r>
            <a:endParaRPr lang="en-US" sz="2000" dirty="0" err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AutoShape 2" descr="First slide">
            <a:extLst>
              <a:ext uri="{FF2B5EF4-FFF2-40B4-BE49-F238E27FC236}">
                <a16:creationId xmlns:a16="http://schemas.microsoft.com/office/drawing/2014/main" id="{CCEC263C-C36E-C80C-C385-12E7B2C3D2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6EBD83-F03E-4048-ADF4-AE58AF4690FE}"/>
              </a:ext>
            </a:extLst>
          </p:cNvPr>
          <p:cNvSpPr txBox="1"/>
          <p:nvPr/>
        </p:nvSpPr>
        <p:spPr>
          <a:xfrm>
            <a:off x="525245" y="6151722"/>
            <a:ext cx="67427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[4] </a:t>
            </a:r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3"/>
              </a:rPr>
              <a:t>https://qipedc.moet.gov.vn</a:t>
            </a:r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endParaRPr lang="en-US" sz="800" u="sn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113231-E3B4-9AA7-049E-0A71D78456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8891" y="1404431"/>
            <a:ext cx="4189272" cy="434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501798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63423-2C8D-65F1-BD4E-CA9CE81F7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F8B706-C657-6F0F-B327-94DF3BA2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AE5F3A-63B9-BB51-E132-91B6266C2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US" dirty="0">
                <a:latin typeface="Lato"/>
                <a:ea typeface="Lato"/>
                <a:cs typeface="Lato"/>
              </a:rPr>
              <a:t>2. </a:t>
            </a:r>
            <a:r>
              <a:rPr lang="en-US" dirty="0" err="1">
                <a:latin typeface="Lato"/>
                <a:ea typeface="Lato"/>
                <a:cs typeface="Lato"/>
              </a:rPr>
              <a:t>Cơ</a:t>
            </a:r>
            <a:r>
              <a:rPr lang="en-US" dirty="0">
                <a:latin typeface="Lato"/>
                <a:ea typeface="Lato"/>
                <a:cs typeface="Lato"/>
              </a:rPr>
              <a:t> </a:t>
            </a:r>
            <a:r>
              <a:rPr lang="en-US" dirty="0" err="1">
                <a:latin typeface="Lato"/>
                <a:ea typeface="Lato"/>
                <a:cs typeface="Lato"/>
              </a:rPr>
              <a:t>sở</a:t>
            </a:r>
            <a:r>
              <a:rPr lang="en-US" dirty="0">
                <a:latin typeface="Lato"/>
                <a:ea typeface="Lato"/>
                <a:cs typeface="Lato"/>
              </a:rPr>
              <a:t> </a:t>
            </a:r>
            <a:r>
              <a:rPr lang="en-US" dirty="0" err="1">
                <a:latin typeface="Lato"/>
                <a:ea typeface="Lato"/>
                <a:cs typeface="Lato"/>
              </a:rPr>
              <a:t>lý</a:t>
            </a:r>
            <a:r>
              <a:rPr lang="en-US" dirty="0">
                <a:latin typeface="Lato"/>
                <a:ea typeface="Lato"/>
                <a:cs typeface="Lato"/>
              </a:rPr>
              <a:t> </a:t>
            </a:r>
            <a:r>
              <a:rPr lang="en-US" dirty="0" err="1">
                <a:latin typeface="Lato"/>
                <a:ea typeface="Lato"/>
                <a:cs typeface="Lato"/>
              </a:rPr>
              <a:t>thuyết</a:t>
            </a:r>
            <a:r>
              <a:rPr lang="en-US" dirty="0">
                <a:latin typeface="Lato"/>
                <a:ea typeface="Lato"/>
                <a:cs typeface="Lato"/>
              </a:rPr>
              <a:t> 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DF2582-5421-CA23-D086-770EC6D2C46E}"/>
              </a:ext>
            </a:extLst>
          </p:cNvPr>
          <p:cNvSpPr txBox="1">
            <a:spLocks/>
          </p:cNvSpPr>
          <p:nvPr/>
        </p:nvSpPr>
        <p:spPr>
          <a:xfrm>
            <a:off x="254052" y="744797"/>
            <a:ext cx="8028720" cy="44789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2.2. Quy </a:t>
            </a:r>
            <a:r>
              <a:rPr lang="en-US" sz="2000" dirty="0" err="1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trình</a:t>
            </a:r>
            <a:endParaRPr lang="en-US" sz="2000" dirty="0" err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AutoShape 2" descr="First slide">
            <a:extLst>
              <a:ext uri="{FF2B5EF4-FFF2-40B4-BE49-F238E27FC236}">
                <a16:creationId xmlns:a16="http://schemas.microsoft.com/office/drawing/2014/main" id="{203662BA-35F1-5F6C-0245-109CEC7216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D824B5-7B9A-6E40-4356-F9C60847F3CC}"/>
              </a:ext>
            </a:extLst>
          </p:cNvPr>
          <p:cNvSpPr txBox="1"/>
          <p:nvPr/>
        </p:nvSpPr>
        <p:spPr>
          <a:xfrm>
            <a:off x="525245" y="6151722"/>
            <a:ext cx="67427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[4] </a:t>
            </a:r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3"/>
              </a:rPr>
              <a:t>https://qipedc.moet.gov.vn</a:t>
            </a:r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endParaRPr lang="en-US" sz="800" u="sn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488E94-522F-2FA4-4308-F3D2EDEDFF0C}"/>
              </a:ext>
            </a:extLst>
          </p:cNvPr>
          <p:cNvSpPr txBox="1"/>
          <p:nvPr/>
        </p:nvSpPr>
        <p:spPr>
          <a:xfrm>
            <a:off x="474223" y="1191640"/>
            <a:ext cx="7484218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1. Khởi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(Initialization)</a:t>
            </a:r>
          </a:p>
          <a:p>
            <a:r>
              <a:rPr lang="en-US" dirty="0"/>
              <a:t>   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bí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(Key) 128 bit </a:t>
            </a:r>
            <a:r>
              <a:rPr lang="en-US" dirty="0" err="1"/>
              <a:t>và</a:t>
            </a:r>
            <a:r>
              <a:rPr lang="en-US" dirty="0"/>
              <a:t> vector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(IV) 128 bit. Hai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32 bit,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P </a:t>
            </a:r>
            <a:r>
              <a:rPr lang="en-US" dirty="0" err="1"/>
              <a:t>và</a:t>
            </a:r>
            <a:r>
              <a:rPr lang="en-US" dirty="0"/>
              <a:t> Q,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 512 </a:t>
            </a:r>
            <a:r>
              <a:rPr lang="en-US" dirty="0" err="1"/>
              <a:t>từ</a:t>
            </a:r>
            <a:r>
              <a:rPr lang="en-US" dirty="0"/>
              <a:t> 32 bit.</a:t>
            </a:r>
          </a:p>
          <a:p>
            <a:r>
              <a:rPr lang="en-US" dirty="0"/>
              <a:t>2. Làm </a:t>
            </a:r>
            <a:r>
              <a:rPr lang="en-US" dirty="0" err="1"/>
              <a:t>nóng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(State Initialization)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   HC-128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1024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ban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thiện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P </a:t>
            </a:r>
            <a:r>
              <a:rPr lang="en-US" dirty="0" err="1"/>
              <a:t>và</a:t>
            </a:r>
            <a:r>
              <a:rPr lang="en-US" dirty="0"/>
              <a:t> Q. Giai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sẵn</a:t>
            </a:r>
            <a:r>
              <a:rPr lang="en-US" dirty="0"/>
              <a:t> </a:t>
            </a:r>
            <a:r>
              <a:rPr lang="en-US" dirty="0" err="1"/>
              <a:t>sàng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.</a:t>
            </a:r>
          </a:p>
          <a:p>
            <a:r>
              <a:rPr lang="en-US" dirty="0"/>
              <a:t>3. Cập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(Keystream Generation)</a:t>
            </a:r>
          </a:p>
          <a:p>
            <a:r>
              <a:rPr lang="en-US" dirty="0"/>
              <a:t>   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đếm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luân</a:t>
            </a:r>
            <a:r>
              <a:rPr lang="en-US" dirty="0"/>
              <a:t> </a:t>
            </a:r>
            <a:r>
              <a:rPr lang="en-US" dirty="0" err="1"/>
              <a:t>phiên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P </a:t>
            </a:r>
            <a:r>
              <a:rPr lang="en-US" dirty="0" err="1"/>
              <a:t>và</a:t>
            </a:r>
            <a:r>
              <a:rPr lang="en-US" dirty="0"/>
              <a:t> Q. Mỗi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cộng</a:t>
            </a:r>
            <a:r>
              <a:rPr lang="en-US" dirty="0"/>
              <a:t> modulo 2^32, XOR, </a:t>
            </a:r>
            <a:r>
              <a:rPr lang="en-US" dirty="0" err="1"/>
              <a:t>dịch</a:t>
            </a:r>
            <a:r>
              <a:rPr lang="en-US" dirty="0"/>
              <a:t> bit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xoay</a:t>
            </a:r>
            <a:r>
              <a:rPr lang="en-US" dirty="0"/>
              <a:t> bit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32 bit. Các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ghép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(keystream).</a:t>
            </a:r>
          </a:p>
          <a:p>
            <a:r>
              <a:rPr lang="en-US" dirty="0"/>
              <a:t>4.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(Encryption/Decryption)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   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chia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byte </a:t>
            </a:r>
            <a:r>
              <a:rPr lang="en-US" dirty="0" err="1"/>
              <a:t>và</a:t>
            </a:r>
            <a:r>
              <a:rPr lang="en-US" dirty="0"/>
              <a:t> XOR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byte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. Khi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,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XOR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khôi</a:t>
            </a:r>
            <a:r>
              <a:rPr lang="en-US" dirty="0"/>
              <a:t> </a:t>
            </a:r>
            <a:r>
              <a:rPr lang="en-US" dirty="0" err="1"/>
              <a:t>phục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.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42153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6B22B-A32F-CB91-9E79-79596B462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0A2A3F-6F06-CDB7-2427-CCE99D15F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85D96F-22CB-2919-5B26-83B3483D6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US" dirty="0">
                <a:latin typeface="Lato"/>
                <a:ea typeface="Lato"/>
                <a:cs typeface="Lato"/>
              </a:rPr>
              <a:t>3. </a:t>
            </a:r>
            <a:r>
              <a:rPr lang="en-US" dirty="0" err="1">
                <a:latin typeface="Lato"/>
                <a:ea typeface="Lato"/>
                <a:cs typeface="Lato"/>
              </a:rPr>
              <a:t>Cấu</a:t>
            </a:r>
            <a:r>
              <a:rPr lang="en-US" dirty="0">
                <a:latin typeface="Lato"/>
                <a:ea typeface="Lato"/>
                <a:cs typeface="Lato"/>
              </a:rPr>
              <a:t> </a:t>
            </a:r>
            <a:r>
              <a:rPr lang="en-US" dirty="0" err="1">
                <a:latin typeface="Lato"/>
                <a:ea typeface="Lato"/>
                <a:cs typeface="Lato"/>
              </a:rPr>
              <a:t>trúc</a:t>
            </a:r>
            <a:r>
              <a:rPr lang="en-US" dirty="0">
                <a:latin typeface="Lato"/>
                <a:ea typeface="Lato"/>
                <a:cs typeface="Lato"/>
              </a:rPr>
              <a:t> </a:t>
            </a:r>
            <a:r>
              <a:rPr lang="en-US" dirty="0" err="1">
                <a:latin typeface="Lato"/>
                <a:ea typeface="Lato"/>
                <a:cs typeface="Lato"/>
              </a:rPr>
              <a:t>dự</a:t>
            </a:r>
            <a:r>
              <a:rPr lang="en-US" dirty="0">
                <a:latin typeface="Lato"/>
                <a:ea typeface="Lato"/>
                <a:cs typeface="Lato"/>
              </a:rPr>
              <a:t> </a:t>
            </a:r>
            <a:r>
              <a:rPr lang="en-US" dirty="0" err="1">
                <a:latin typeface="Lato"/>
                <a:ea typeface="Lato"/>
                <a:cs typeface="Lato"/>
              </a:rPr>
              <a:t>án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AA8EC91-9CC5-A97F-9C28-B47C0212061A}"/>
              </a:ext>
            </a:extLst>
          </p:cNvPr>
          <p:cNvSpPr txBox="1">
            <a:spLocks/>
          </p:cNvSpPr>
          <p:nvPr/>
        </p:nvSpPr>
        <p:spPr>
          <a:xfrm>
            <a:off x="254052" y="744797"/>
            <a:ext cx="8028720" cy="44789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3.1. </a:t>
            </a:r>
            <a:r>
              <a:rPr lang="en-US" sz="2000" dirty="0" err="1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Cấu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trúc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dự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án</a:t>
            </a:r>
            <a:endParaRPr lang="en-US" sz="200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AutoShape 2" descr="First slide">
            <a:extLst>
              <a:ext uri="{FF2B5EF4-FFF2-40B4-BE49-F238E27FC236}">
                <a16:creationId xmlns:a16="http://schemas.microsoft.com/office/drawing/2014/main" id="{7C8026D4-1530-7269-0E5A-B9868400F0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E7EE5A-4EDA-E003-EA19-96B514207321}"/>
              </a:ext>
            </a:extLst>
          </p:cNvPr>
          <p:cNvSpPr txBox="1"/>
          <p:nvPr/>
        </p:nvSpPr>
        <p:spPr>
          <a:xfrm>
            <a:off x="525245" y="6151722"/>
            <a:ext cx="67427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[4] </a:t>
            </a:r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3"/>
              </a:rPr>
              <a:t>https://qipedc.moet.gov.vn</a:t>
            </a:r>
            <a:r>
              <a:rPr lang="en-US" sz="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endParaRPr lang="en-US" sz="800" u="sng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F8D9DB-B331-2AFE-CEE7-A470C69633F3}"/>
              </a:ext>
            </a:extLst>
          </p:cNvPr>
          <p:cNvSpPr txBox="1"/>
          <p:nvPr/>
        </p:nvSpPr>
        <p:spPr>
          <a:xfrm>
            <a:off x="372533" y="1354667"/>
            <a:ext cx="4572000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/>
              <a:t>Cấu</a:t>
            </a:r>
            <a:r>
              <a:rPr lang="en-US" b="1" dirty="0"/>
              <a:t> </a:t>
            </a:r>
            <a:r>
              <a:rPr lang="en-US" b="1" dirty="0" err="1"/>
              <a:t>trúc</a:t>
            </a:r>
            <a:r>
              <a:rPr lang="en-US" b="1" dirty="0"/>
              <a:t> </a:t>
            </a:r>
            <a:r>
              <a:rPr lang="en-US" b="1" dirty="0" err="1"/>
              <a:t>dự</a:t>
            </a:r>
            <a:r>
              <a:rPr lang="en-US" b="1" dirty="0"/>
              <a:t> </a:t>
            </a:r>
            <a:r>
              <a:rPr lang="en-US" b="1" dirty="0" err="1"/>
              <a:t>án</a:t>
            </a:r>
            <a:r>
              <a:rPr lang="en-US" b="1" dirty="0"/>
              <a:t> HC-128</a:t>
            </a:r>
          </a:p>
          <a:p>
            <a:r>
              <a:rPr lang="en-US" dirty="0"/>
              <a:t>   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nhằm</a:t>
            </a:r>
            <a:r>
              <a:rPr lang="en-US" dirty="0"/>
              <a:t>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mô-đun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tiện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. Thư </a:t>
            </a:r>
            <a:r>
              <a:rPr lang="en-US" dirty="0" err="1"/>
              <a:t>mục</a:t>
            </a:r>
            <a:r>
              <a:rPr lang="en-US" dirty="0"/>
              <a:t> include/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tệp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; </a:t>
            </a:r>
            <a:r>
              <a:rPr lang="en-US" dirty="0" err="1"/>
              <a:t>src</a:t>
            </a:r>
            <a:r>
              <a:rPr lang="en-US" dirty="0"/>
              <a:t>/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HC-128; app/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trách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; tests/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chứng</a:t>
            </a:r>
            <a:r>
              <a:rPr lang="en-US" dirty="0"/>
              <a:t>; tools/reference/ </a:t>
            </a:r>
            <a:r>
              <a:rPr lang="en-US" dirty="0" err="1"/>
              <a:t>phục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chiếu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chiếu</a:t>
            </a:r>
            <a:r>
              <a:rPr lang="en-US" dirty="0"/>
              <a:t>; bench/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; docs/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, slide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; results/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; .</a:t>
            </a:r>
            <a:r>
              <a:rPr lang="en-US" dirty="0" err="1"/>
              <a:t>github</a:t>
            </a:r>
            <a:r>
              <a:rPr lang="en-US" dirty="0"/>
              <a:t>/workflows/ </a:t>
            </a:r>
            <a:r>
              <a:rPr lang="en-US" dirty="0" err="1"/>
              <a:t>dành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.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độc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tiện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C727AC-7290-004B-E66D-C20330BC9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702" y="1718732"/>
            <a:ext cx="3873397" cy="408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06029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US" dirty="0">
                <a:latin typeface="Lato"/>
                <a:ea typeface="Lato"/>
                <a:cs typeface="Lato"/>
              </a:rPr>
              <a:t>4. Kịch </a:t>
            </a:r>
            <a:r>
              <a:rPr lang="en-US" dirty="0" err="1">
                <a:latin typeface="Lato"/>
                <a:ea typeface="Lato"/>
                <a:cs typeface="Lato"/>
              </a:rPr>
              <a:t>bản</a:t>
            </a:r>
            <a:r>
              <a:rPr lang="en-US" dirty="0">
                <a:latin typeface="Lato"/>
                <a:ea typeface="Lato"/>
                <a:cs typeface="Lato"/>
              </a:rPr>
              <a:t> </a:t>
            </a:r>
            <a:r>
              <a:rPr lang="en-US" dirty="0" err="1">
                <a:latin typeface="Lato"/>
                <a:ea typeface="Lato"/>
                <a:cs typeface="Lato"/>
              </a:rPr>
              <a:t>kiểm</a:t>
            </a:r>
            <a:r>
              <a:rPr lang="en-US" dirty="0">
                <a:latin typeface="Lato"/>
                <a:ea typeface="Lato"/>
                <a:cs typeface="Lato"/>
              </a:rPr>
              <a:t> </a:t>
            </a:r>
            <a:r>
              <a:rPr lang="en-US" dirty="0" err="1">
                <a:latin typeface="Lato"/>
                <a:ea typeface="Lato"/>
                <a:cs typeface="Lato"/>
              </a:rPr>
              <a:t>thử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 txBox="1">
            <a:spLocks/>
          </p:cNvSpPr>
          <p:nvPr/>
        </p:nvSpPr>
        <p:spPr>
          <a:xfrm>
            <a:off x="366019" y="752476"/>
            <a:ext cx="8028720" cy="44789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4.1. Kịch </a:t>
            </a:r>
            <a:r>
              <a:rPr lang="en-US" sz="2000" dirty="0" err="1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bản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kiểm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thử</a:t>
            </a:r>
            <a:endParaRPr lang="en-US" sz="2000" dirty="0" err="1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0ECE38D-AC59-990D-96B8-CC8F3851F9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748247"/>
              </p:ext>
            </p:extLst>
          </p:nvPr>
        </p:nvGraphicFramePr>
        <p:xfrm>
          <a:off x="1203797" y="1453068"/>
          <a:ext cx="6353295" cy="465489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57722">
                  <a:extLst>
                    <a:ext uri="{9D8B030D-6E8A-4147-A177-3AD203B41FA5}">
                      <a16:colId xmlns:a16="http://schemas.microsoft.com/office/drawing/2014/main" val="861442598"/>
                    </a:ext>
                  </a:extLst>
                </a:gridCol>
                <a:gridCol w="1928303">
                  <a:extLst>
                    <a:ext uri="{9D8B030D-6E8A-4147-A177-3AD203B41FA5}">
                      <a16:colId xmlns:a16="http://schemas.microsoft.com/office/drawing/2014/main" val="2801658860"/>
                    </a:ext>
                  </a:extLst>
                </a:gridCol>
                <a:gridCol w="1935413">
                  <a:extLst>
                    <a:ext uri="{9D8B030D-6E8A-4147-A177-3AD203B41FA5}">
                      <a16:colId xmlns:a16="http://schemas.microsoft.com/office/drawing/2014/main" val="3305155366"/>
                    </a:ext>
                  </a:extLst>
                </a:gridCol>
                <a:gridCol w="1931857">
                  <a:extLst>
                    <a:ext uri="{9D8B030D-6E8A-4147-A177-3AD203B41FA5}">
                      <a16:colId xmlns:a16="http://schemas.microsoft.com/office/drawing/2014/main" val="799784254"/>
                    </a:ext>
                  </a:extLst>
                </a:gridCol>
              </a:tblGrid>
              <a:tr h="2136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/>
                        <a:t>Test ID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 err="1"/>
                        <a:t>Nội</a:t>
                      </a:r>
                      <a:r>
                        <a:rPr lang="en-US" sz="800" b="1" dirty="0"/>
                        <a:t> dung </a:t>
                      </a:r>
                      <a:r>
                        <a:rPr lang="en-US" sz="800" b="1" dirty="0" err="1"/>
                        <a:t>kiểm</a:t>
                      </a:r>
                      <a:r>
                        <a:rPr lang="en-US" sz="800" b="1" dirty="0"/>
                        <a:t> </a:t>
                      </a:r>
                      <a:r>
                        <a:rPr lang="en-US" sz="800" b="1" dirty="0" err="1"/>
                        <a:t>thử</a:t>
                      </a:r>
                      <a:endParaRPr lang="en-US" sz="800" b="1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 err="1"/>
                        <a:t>Dữ</a:t>
                      </a:r>
                      <a:r>
                        <a:rPr lang="en-US" sz="800" b="1" dirty="0"/>
                        <a:t> </a:t>
                      </a:r>
                      <a:r>
                        <a:rPr lang="en-US" sz="800" b="1" dirty="0" err="1"/>
                        <a:t>liệu</a:t>
                      </a:r>
                      <a:r>
                        <a:rPr lang="en-US" sz="800" b="1" dirty="0"/>
                        <a:t> </a:t>
                      </a:r>
                      <a:r>
                        <a:rPr lang="en-US" sz="800" b="1" dirty="0" err="1"/>
                        <a:t>đầu</a:t>
                      </a:r>
                      <a:r>
                        <a:rPr lang="en-US" sz="800" b="1" dirty="0"/>
                        <a:t> </a:t>
                      </a:r>
                      <a:r>
                        <a:rPr lang="en-US" sz="800" b="1" dirty="0" err="1"/>
                        <a:t>vào</a:t>
                      </a:r>
                      <a:endParaRPr lang="en-US" sz="800" b="1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 err="1"/>
                        <a:t>Kết</a:t>
                      </a:r>
                      <a:r>
                        <a:rPr lang="en-US" sz="800" b="1" dirty="0"/>
                        <a:t> </a:t>
                      </a:r>
                      <a:r>
                        <a:rPr lang="en-US" sz="800" b="1" dirty="0" err="1"/>
                        <a:t>quả</a:t>
                      </a:r>
                      <a:r>
                        <a:rPr lang="en-US" sz="800" b="1" dirty="0"/>
                        <a:t> </a:t>
                      </a:r>
                      <a:r>
                        <a:rPr lang="en-US" sz="800" b="1" dirty="0" err="1"/>
                        <a:t>mong</a:t>
                      </a:r>
                      <a:r>
                        <a:rPr lang="en-US" sz="800" b="1" dirty="0"/>
                        <a:t> </a:t>
                      </a:r>
                      <a:r>
                        <a:rPr lang="en-US" sz="800" b="1" dirty="0" err="1"/>
                        <a:t>đợi</a:t>
                      </a:r>
                      <a:endParaRPr lang="en-US" sz="800" b="1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197828"/>
                  </a:ext>
                </a:extLst>
              </a:tr>
              <a:tr h="399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TC01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Khởi </a:t>
                      </a:r>
                      <a:r>
                        <a:rPr lang="en-US" sz="800" dirty="0" err="1"/>
                        <a:t>tạo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thuật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toán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Key 128 bit, IV 128 bit </a:t>
                      </a:r>
                      <a:r>
                        <a:rPr lang="en-US" sz="800" dirty="0" err="1"/>
                        <a:t>hợp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lệ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 err="1"/>
                        <a:t>Khởi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tạo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thành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công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hai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bảng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trạng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thái</a:t>
                      </a:r>
                      <a:r>
                        <a:rPr lang="en-US" sz="800" dirty="0"/>
                        <a:t> P </a:t>
                      </a:r>
                      <a:r>
                        <a:rPr lang="en-US" sz="800" dirty="0" err="1"/>
                        <a:t>và</a:t>
                      </a:r>
                      <a:r>
                        <a:rPr lang="en-US" sz="800" dirty="0"/>
                        <a:t> Q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9638122"/>
                  </a:ext>
                </a:extLst>
              </a:tr>
              <a:tr h="492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TC02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Sinh </a:t>
                      </a:r>
                      <a:r>
                        <a:rPr lang="en-US" sz="800" dirty="0" err="1"/>
                        <a:t>chuỗi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khóa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Key = 0, IV = 0, </a:t>
                      </a:r>
                      <a:r>
                        <a:rPr lang="en-US" sz="800" dirty="0" err="1"/>
                        <a:t>mỗi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giá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trị</a:t>
                      </a:r>
                      <a:r>
                        <a:rPr lang="en-US" sz="800" dirty="0"/>
                        <a:t> 128 bit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Sinh </a:t>
                      </a:r>
                      <a:r>
                        <a:rPr lang="en-US" sz="800" dirty="0" err="1"/>
                        <a:t>đúng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chuỗi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khóa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theo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bộ</a:t>
                      </a:r>
                      <a:r>
                        <a:rPr lang="en-US" sz="800" dirty="0"/>
                        <a:t> vector </a:t>
                      </a:r>
                      <a:r>
                        <a:rPr lang="en-US" sz="800" dirty="0" err="1"/>
                        <a:t>kiểm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thử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chuẩn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92074"/>
                  </a:ext>
                </a:extLst>
              </a:tr>
              <a:tr h="408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TC03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err="1"/>
                        <a:t>Mã</a:t>
                      </a:r>
                      <a:r>
                        <a:rPr lang="en-US" sz="800" dirty="0"/>
                        <a:t> </a:t>
                      </a:r>
                      <a:r>
                        <a:rPr lang="en-US" sz="800" err="1"/>
                        <a:t>hóa</a:t>
                      </a:r>
                      <a:r>
                        <a:rPr lang="en-US" sz="800" dirty="0"/>
                        <a:t> </a:t>
                      </a:r>
                      <a:r>
                        <a:rPr lang="en-US" sz="800" err="1"/>
                        <a:t>dữ</a:t>
                      </a:r>
                      <a:r>
                        <a:rPr lang="en-US" sz="800" dirty="0"/>
                        <a:t> </a:t>
                      </a:r>
                      <a:r>
                        <a:rPr lang="en-US" sz="800" err="1"/>
                        <a:t>liệu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Bản </a:t>
                      </a:r>
                      <a:r>
                        <a:rPr lang="en-US" sz="800" dirty="0" err="1"/>
                        <a:t>rõ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>
                          <a:latin typeface="Courier New"/>
                        </a:rPr>
                        <a:t>"Hello HC-128"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và</a:t>
                      </a:r>
                      <a:r>
                        <a:rPr lang="en-US" sz="800" dirty="0"/>
                        <a:t> Key/IV </a:t>
                      </a:r>
                      <a:r>
                        <a:rPr lang="en-US" sz="800" dirty="0" err="1"/>
                        <a:t>hợp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lệ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Tạo </a:t>
                      </a:r>
                      <a:r>
                        <a:rPr lang="en-US" sz="800" dirty="0" err="1"/>
                        <a:t>được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bản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mã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dạng</a:t>
                      </a:r>
                      <a:r>
                        <a:rPr lang="en-US" sz="800" dirty="0"/>
                        <a:t> byte </a:t>
                      </a:r>
                      <a:r>
                        <a:rPr lang="en-US" sz="800" dirty="0" err="1"/>
                        <a:t>hoặc</a:t>
                      </a:r>
                      <a:r>
                        <a:rPr lang="en-US" sz="800" dirty="0"/>
                        <a:t> hexadecimal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312773"/>
                  </a:ext>
                </a:extLst>
              </a:tr>
              <a:tr h="399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TC04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err="1"/>
                        <a:t>Giải</a:t>
                      </a:r>
                      <a:r>
                        <a:rPr lang="en-US" sz="800" dirty="0"/>
                        <a:t> </a:t>
                      </a:r>
                      <a:r>
                        <a:rPr lang="en-US" sz="800" err="1"/>
                        <a:t>mã</a:t>
                      </a:r>
                      <a:r>
                        <a:rPr lang="en-US" sz="800" dirty="0"/>
                        <a:t> </a:t>
                      </a:r>
                      <a:r>
                        <a:rPr lang="en-US" sz="800" err="1"/>
                        <a:t>dữ</a:t>
                      </a:r>
                      <a:r>
                        <a:rPr lang="en-US" sz="800" dirty="0"/>
                        <a:t> </a:t>
                      </a:r>
                      <a:r>
                        <a:rPr lang="en-US" sz="800" err="1"/>
                        <a:t>liệu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Bản </a:t>
                      </a:r>
                      <a:r>
                        <a:rPr lang="en-US" sz="800" dirty="0" err="1"/>
                        <a:t>mã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tạo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từ</a:t>
                      </a:r>
                      <a:r>
                        <a:rPr lang="en-US" sz="800" dirty="0"/>
                        <a:t> TC03, </a:t>
                      </a:r>
                      <a:r>
                        <a:rPr lang="en-US" sz="800" dirty="0" err="1"/>
                        <a:t>cùng</a:t>
                      </a:r>
                      <a:r>
                        <a:rPr lang="en-US" sz="800" dirty="0"/>
                        <a:t> Key/IV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 err="1"/>
                        <a:t>Khôi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phục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chính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xác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>
                          <a:latin typeface="Courier New"/>
                        </a:rPr>
                        <a:t>"Hello HC-128"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728239"/>
                  </a:ext>
                </a:extLst>
              </a:tr>
              <a:tr h="306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TC05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err="1"/>
                        <a:t>Kiểm</a:t>
                      </a:r>
                      <a:r>
                        <a:rPr lang="en-US" sz="800" dirty="0"/>
                        <a:t> </a:t>
                      </a:r>
                      <a:r>
                        <a:rPr lang="en-US" sz="800" err="1"/>
                        <a:t>tra</a:t>
                      </a:r>
                      <a:r>
                        <a:rPr lang="en-US" sz="800" dirty="0"/>
                        <a:t> </a:t>
                      </a:r>
                      <a:r>
                        <a:rPr lang="en-US" sz="800" err="1"/>
                        <a:t>tính</a:t>
                      </a:r>
                      <a:r>
                        <a:rPr lang="en-US" sz="800" dirty="0"/>
                        <a:t> </a:t>
                      </a:r>
                      <a:r>
                        <a:rPr lang="en-US" sz="800" err="1"/>
                        <a:t>thuận</a:t>
                      </a:r>
                      <a:r>
                        <a:rPr lang="en-US" sz="800" dirty="0"/>
                        <a:t> </a:t>
                      </a:r>
                      <a:r>
                        <a:rPr lang="en-US" sz="800" err="1"/>
                        <a:t>nghịch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Bản </a:t>
                      </a:r>
                      <a:r>
                        <a:rPr lang="en-US" sz="800" dirty="0" err="1"/>
                        <a:t>rõ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bất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kỳ</a:t>
                      </a:r>
                      <a:r>
                        <a:rPr lang="en-US" sz="800" dirty="0"/>
                        <a:t>, Key/IV </a:t>
                      </a:r>
                      <a:r>
                        <a:rPr lang="en-US" sz="800" dirty="0" err="1"/>
                        <a:t>hợp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lệ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latin typeface="Courier New"/>
                        </a:rPr>
                        <a:t>Decrypt(Encrypt(P)) = P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6003030"/>
                  </a:ext>
                </a:extLst>
              </a:tr>
              <a:tr h="306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TC06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 err="1"/>
                        <a:t>Dữ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liệu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rỗng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Bản </a:t>
                      </a:r>
                      <a:r>
                        <a:rPr lang="en-US" sz="800" dirty="0" err="1"/>
                        <a:t>rõ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có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độ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dài</a:t>
                      </a:r>
                      <a:r>
                        <a:rPr lang="en-US" sz="800" dirty="0"/>
                        <a:t> 0 byte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 err="1"/>
                        <a:t>Xử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lý</a:t>
                      </a:r>
                      <a:r>
                        <a:rPr lang="en-US" sz="800" dirty="0"/>
                        <a:t> an </a:t>
                      </a:r>
                      <a:r>
                        <a:rPr lang="en-US" sz="800" dirty="0" err="1"/>
                        <a:t>toàn</a:t>
                      </a:r>
                      <a:r>
                        <a:rPr lang="en-US" sz="800" dirty="0"/>
                        <a:t>, </a:t>
                      </a:r>
                      <a:r>
                        <a:rPr lang="en-US" sz="800" dirty="0" err="1"/>
                        <a:t>không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lỗi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bộ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nhớ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5576548"/>
                  </a:ext>
                </a:extLst>
              </a:tr>
              <a:tr h="306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TC07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 err="1"/>
                        <a:t>Dữ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liệu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một</a:t>
                      </a:r>
                      <a:r>
                        <a:rPr lang="en-US" sz="800" dirty="0"/>
                        <a:t> byte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Bản </a:t>
                      </a:r>
                      <a:r>
                        <a:rPr lang="en-US" sz="800" dirty="0" err="1"/>
                        <a:t>rõ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>
                          <a:latin typeface="Courier New"/>
                        </a:rPr>
                        <a:t>0x41</a:t>
                      </a:r>
                      <a:r>
                        <a:rPr lang="en-US" sz="800" dirty="0"/>
                        <a:t> (</a:t>
                      </a:r>
                      <a:r>
                        <a:rPr lang="en-US" sz="800" dirty="0">
                          <a:latin typeface="Courier New"/>
                        </a:rPr>
                        <a:t>A</a:t>
                      </a:r>
                      <a:r>
                        <a:rPr lang="en-US" sz="800" dirty="0"/>
                        <a:t>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 err="1"/>
                        <a:t>Mã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hóa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và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giải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mã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đúng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một</a:t>
                      </a:r>
                      <a:r>
                        <a:rPr lang="en-US" sz="800" dirty="0"/>
                        <a:t> byte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4747744"/>
                  </a:ext>
                </a:extLst>
              </a:tr>
              <a:tr h="399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TC08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 err="1"/>
                        <a:t>Dữ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liệu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dài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Tệp </a:t>
                      </a:r>
                      <a:r>
                        <a:rPr lang="en-US" sz="800" dirty="0" err="1"/>
                        <a:t>đầu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vào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lớn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hơn</a:t>
                      </a:r>
                      <a:r>
                        <a:rPr lang="en-US" sz="800" dirty="0"/>
                        <a:t> 1 MB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 err="1"/>
                        <a:t>Mã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hóa</a:t>
                      </a:r>
                      <a:r>
                        <a:rPr lang="en-US" sz="800" dirty="0"/>
                        <a:t>, </a:t>
                      </a:r>
                      <a:r>
                        <a:rPr lang="en-US" sz="800" dirty="0" err="1"/>
                        <a:t>giải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mã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đầy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đủ</a:t>
                      </a:r>
                      <a:r>
                        <a:rPr lang="en-US" sz="800" dirty="0"/>
                        <a:t>, </a:t>
                      </a:r>
                      <a:r>
                        <a:rPr lang="en-US" sz="800" dirty="0" err="1"/>
                        <a:t>dữ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liệu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khôi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phục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giống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bản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gốc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972939"/>
                  </a:ext>
                </a:extLst>
              </a:tr>
              <a:tr h="306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TC09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Key </a:t>
                      </a:r>
                      <a:r>
                        <a:rPr lang="en-US" sz="800" dirty="0" err="1"/>
                        <a:t>không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hợp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lệ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Key </a:t>
                      </a:r>
                      <a:r>
                        <a:rPr lang="en-US" sz="800" dirty="0" err="1"/>
                        <a:t>thiếu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hoặc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thừa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độ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dài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quy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định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Báo </a:t>
                      </a:r>
                      <a:r>
                        <a:rPr lang="en-US" sz="800" dirty="0" err="1"/>
                        <a:t>lỗi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đầu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vào</a:t>
                      </a:r>
                      <a:r>
                        <a:rPr lang="en-US" sz="800" dirty="0"/>
                        <a:t>, </a:t>
                      </a:r>
                      <a:r>
                        <a:rPr lang="en-US" sz="800" dirty="0" err="1"/>
                        <a:t>không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tiếp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tục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xử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lý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356393"/>
                  </a:ext>
                </a:extLst>
              </a:tr>
              <a:tr h="306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TC10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IV </a:t>
                      </a:r>
                      <a:r>
                        <a:rPr lang="en-US" sz="800" dirty="0" err="1"/>
                        <a:t>không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hợp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lệ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IV </a:t>
                      </a:r>
                      <a:r>
                        <a:rPr lang="en-US" sz="800" dirty="0" err="1"/>
                        <a:t>thiếu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hoặc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thừa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độ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dài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quy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định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Báo </a:t>
                      </a:r>
                      <a:r>
                        <a:rPr lang="en-US" sz="800" dirty="0" err="1"/>
                        <a:t>lỗi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đầu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vào</a:t>
                      </a:r>
                      <a:r>
                        <a:rPr lang="en-US" sz="800" dirty="0"/>
                        <a:t>, </a:t>
                      </a:r>
                      <a:r>
                        <a:rPr lang="en-US" sz="800" dirty="0" err="1"/>
                        <a:t>không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tiếp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tục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xử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lý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46468"/>
                  </a:ext>
                </a:extLst>
              </a:tr>
              <a:tr h="408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TC11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 err="1"/>
                        <a:t>Kiểm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tra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tệp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Tệp </a:t>
                      </a:r>
                      <a:r>
                        <a:rPr lang="en-US" sz="800" dirty="0" err="1"/>
                        <a:t>nhị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phân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chứa</a:t>
                      </a:r>
                      <a:r>
                        <a:rPr lang="en-US" sz="800" dirty="0"/>
                        <a:t> byte </a:t>
                      </a:r>
                      <a:r>
                        <a:rPr lang="en-US" sz="800" dirty="0">
                          <a:latin typeface="Courier New"/>
                        </a:rPr>
                        <a:t>00</a:t>
                      </a:r>
                      <a:r>
                        <a:rPr lang="en-US" sz="800" dirty="0"/>
                        <a:t>, </a:t>
                      </a:r>
                      <a:r>
                        <a:rPr lang="en-US" sz="800" dirty="0">
                          <a:latin typeface="Courier New"/>
                        </a:rPr>
                        <a:t>FF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và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dữ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liệu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ngẫu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nhiên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err="1"/>
                        <a:t>Giải</a:t>
                      </a:r>
                      <a:r>
                        <a:rPr lang="en-US" sz="800" dirty="0"/>
                        <a:t> </a:t>
                      </a:r>
                      <a:r>
                        <a:rPr lang="en-US" sz="800" err="1"/>
                        <a:t>mã</a:t>
                      </a:r>
                      <a:r>
                        <a:rPr lang="en-US" sz="800" dirty="0"/>
                        <a:t> </a:t>
                      </a:r>
                      <a:r>
                        <a:rPr lang="en-US" sz="800" err="1"/>
                        <a:t>khôi</a:t>
                      </a:r>
                      <a:r>
                        <a:rPr lang="en-US" sz="800" dirty="0"/>
                        <a:t> </a:t>
                      </a:r>
                      <a:r>
                        <a:rPr lang="en-US" sz="800" err="1"/>
                        <a:t>phục</a:t>
                      </a:r>
                      <a:r>
                        <a:rPr lang="en-US" sz="800" dirty="0"/>
                        <a:t> </a:t>
                      </a:r>
                      <a:r>
                        <a:rPr lang="en-US" sz="800" err="1"/>
                        <a:t>tệp</a:t>
                      </a:r>
                      <a:r>
                        <a:rPr lang="en-US" sz="800" dirty="0"/>
                        <a:t> </a:t>
                      </a:r>
                      <a:r>
                        <a:rPr lang="en-US" sz="800" err="1"/>
                        <a:t>giống</a:t>
                      </a:r>
                      <a:r>
                        <a:rPr lang="en-US" sz="800" dirty="0"/>
                        <a:t> </a:t>
                      </a:r>
                      <a:r>
                        <a:rPr lang="en-US" sz="800" err="1"/>
                        <a:t>hoàn</a:t>
                      </a:r>
                      <a:r>
                        <a:rPr lang="en-US" sz="800" dirty="0"/>
                        <a:t> </a:t>
                      </a:r>
                      <a:r>
                        <a:rPr lang="en-US" sz="800" err="1"/>
                        <a:t>toàn</a:t>
                      </a:r>
                      <a:r>
                        <a:rPr lang="en-US" sz="800" dirty="0"/>
                        <a:t> </a:t>
                      </a:r>
                      <a:r>
                        <a:rPr lang="en-US" sz="800" err="1"/>
                        <a:t>tệp</a:t>
                      </a:r>
                      <a:r>
                        <a:rPr lang="en-US" sz="800" dirty="0"/>
                        <a:t> </a:t>
                      </a:r>
                      <a:r>
                        <a:rPr lang="en-US" sz="800" err="1"/>
                        <a:t>gốc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51451"/>
                  </a:ext>
                </a:extLst>
              </a:tr>
              <a:tr h="399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TC12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err="1"/>
                        <a:t>Kiểm</a:t>
                      </a:r>
                      <a:r>
                        <a:rPr lang="en-US" sz="800" dirty="0"/>
                        <a:t> </a:t>
                      </a:r>
                      <a:r>
                        <a:rPr lang="en-US" sz="800" err="1"/>
                        <a:t>tra</a:t>
                      </a:r>
                      <a:r>
                        <a:rPr lang="en-US" sz="800" dirty="0"/>
                        <a:t> </a:t>
                      </a:r>
                      <a:r>
                        <a:rPr lang="en-US" sz="800" err="1"/>
                        <a:t>hiệu</a:t>
                      </a:r>
                      <a:r>
                        <a:rPr lang="en-US" sz="800" dirty="0"/>
                        <a:t> </a:t>
                      </a:r>
                      <a:r>
                        <a:rPr lang="en-US" sz="800" err="1"/>
                        <a:t>năng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err="1"/>
                        <a:t>Mã</a:t>
                      </a:r>
                      <a:r>
                        <a:rPr lang="en-US" sz="800" dirty="0"/>
                        <a:t> </a:t>
                      </a:r>
                      <a:r>
                        <a:rPr lang="en-US" sz="800" err="1"/>
                        <a:t>hóa</a:t>
                      </a:r>
                      <a:r>
                        <a:rPr lang="en-US" sz="800" dirty="0"/>
                        <a:t> </a:t>
                      </a:r>
                      <a:r>
                        <a:rPr lang="en-US" sz="800" err="1"/>
                        <a:t>dữ</a:t>
                      </a:r>
                      <a:r>
                        <a:rPr lang="en-US" sz="800" dirty="0"/>
                        <a:t> </a:t>
                      </a:r>
                      <a:r>
                        <a:rPr lang="en-US" sz="800" err="1"/>
                        <a:t>liệu</a:t>
                      </a:r>
                      <a:r>
                        <a:rPr lang="en-US" sz="800" dirty="0"/>
                        <a:t> </a:t>
                      </a:r>
                      <a:r>
                        <a:rPr lang="en-US" sz="800" err="1"/>
                        <a:t>với</a:t>
                      </a:r>
                      <a:r>
                        <a:rPr lang="en-US" sz="800" dirty="0"/>
                        <a:t> </a:t>
                      </a:r>
                      <a:r>
                        <a:rPr lang="en-US" sz="800" err="1"/>
                        <a:t>các</a:t>
                      </a:r>
                      <a:r>
                        <a:rPr lang="en-US" sz="800" dirty="0"/>
                        <a:t> </a:t>
                      </a:r>
                      <a:r>
                        <a:rPr lang="en-US" sz="800" err="1"/>
                        <a:t>kích</a:t>
                      </a:r>
                      <a:r>
                        <a:rPr lang="en-US" sz="800" dirty="0"/>
                        <a:t> </a:t>
                      </a:r>
                      <a:r>
                        <a:rPr lang="en-US" sz="800" err="1"/>
                        <a:t>thước</a:t>
                      </a:r>
                      <a:r>
                        <a:rPr lang="en-US" sz="800" dirty="0"/>
                        <a:t> </a:t>
                      </a:r>
                      <a:r>
                        <a:rPr lang="en-US" sz="800" err="1"/>
                        <a:t>khác</a:t>
                      </a:r>
                      <a:r>
                        <a:rPr lang="en-US" sz="800" dirty="0"/>
                        <a:t> </a:t>
                      </a:r>
                      <a:r>
                        <a:rPr lang="en-US" sz="800" err="1"/>
                        <a:t>nhau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Ghi </a:t>
                      </a:r>
                      <a:r>
                        <a:rPr lang="en-US" sz="800" dirty="0" err="1"/>
                        <a:t>nhận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thời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gian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và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tốc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độ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xử</a:t>
                      </a:r>
                      <a:r>
                        <a:rPr lang="en-US" sz="800" dirty="0"/>
                        <a:t> </a:t>
                      </a:r>
                      <a:r>
                        <a:rPr lang="en-US" sz="800" dirty="0" err="1"/>
                        <a:t>lý</a:t>
                      </a:r>
                      <a:endParaRPr lang="en-US" sz="8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403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1030761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87136-7AE0-AF80-917C-6D1445184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A78E36-3D0B-4164-0D5F-60DA771F7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E90967-B301-4633-ED00-F343FE8BD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r>
              <a:rPr lang="en-US" dirty="0">
                <a:latin typeface="Lato"/>
                <a:ea typeface="Lato"/>
                <a:cs typeface="Lato"/>
              </a:rPr>
              <a:t>4. Kịch </a:t>
            </a:r>
            <a:r>
              <a:rPr lang="en-US" dirty="0" err="1">
                <a:latin typeface="Lato"/>
                <a:ea typeface="Lato"/>
                <a:cs typeface="Lato"/>
              </a:rPr>
              <a:t>bản</a:t>
            </a:r>
            <a:r>
              <a:rPr lang="en-US" dirty="0">
                <a:latin typeface="Lato"/>
                <a:ea typeface="Lato"/>
                <a:cs typeface="Lato"/>
              </a:rPr>
              <a:t> </a:t>
            </a:r>
            <a:r>
              <a:rPr lang="en-US" dirty="0" err="1">
                <a:latin typeface="Lato"/>
                <a:ea typeface="Lato"/>
                <a:cs typeface="Lato"/>
              </a:rPr>
              <a:t>kiểm</a:t>
            </a:r>
            <a:r>
              <a:rPr lang="en-US" dirty="0">
                <a:latin typeface="Lato"/>
                <a:ea typeface="Lato"/>
                <a:cs typeface="Lato"/>
              </a:rPr>
              <a:t> </a:t>
            </a:r>
            <a:r>
              <a:rPr lang="en-US" dirty="0" err="1">
                <a:latin typeface="Lato"/>
                <a:ea typeface="Lato"/>
                <a:cs typeface="Lato"/>
              </a:rPr>
              <a:t>thử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65FFD53-1E2C-6CBA-21AD-5D457D43FCB7}"/>
              </a:ext>
            </a:extLst>
          </p:cNvPr>
          <p:cNvSpPr txBox="1">
            <a:spLocks/>
          </p:cNvSpPr>
          <p:nvPr/>
        </p:nvSpPr>
        <p:spPr>
          <a:xfrm>
            <a:off x="366019" y="752476"/>
            <a:ext cx="8028720" cy="44789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4.2. </a:t>
            </a:r>
            <a:r>
              <a:rPr lang="en-US" sz="2000" dirty="0" err="1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Kết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quả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000" dirty="0" err="1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kiểm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Lato"/>
                <a:ea typeface="Lato"/>
                <a:cs typeface="Lato"/>
              </a:rPr>
              <a:t> thử</a:t>
            </a:r>
            <a:endParaRPr lang="en-US" sz="2000" dirty="0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F869195-4A81-6799-8CEF-22EA3BF6A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761538"/>
              </p:ext>
            </p:extLst>
          </p:nvPr>
        </p:nvGraphicFramePr>
        <p:xfrm>
          <a:off x="1021404" y="2328558"/>
          <a:ext cx="7332177" cy="260363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44059">
                  <a:extLst>
                    <a:ext uri="{9D8B030D-6E8A-4147-A177-3AD203B41FA5}">
                      <a16:colId xmlns:a16="http://schemas.microsoft.com/office/drawing/2014/main" val="4238406084"/>
                    </a:ext>
                  </a:extLst>
                </a:gridCol>
                <a:gridCol w="2444059">
                  <a:extLst>
                    <a:ext uri="{9D8B030D-6E8A-4147-A177-3AD203B41FA5}">
                      <a16:colId xmlns:a16="http://schemas.microsoft.com/office/drawing/2014/main" val="1939538966"/>
                    </a:ext>
                  </a:extLst>
                </a:gridCol>
                <a:gridCol w="2444059">
                  <a:extLst>
                    <a:ext uri="{9D8B030D-6E8A-4147-A177-3AD203B41FA5}">
                      <a16:colId xmlns:a16="http://schemas.microsoft.com/office/drawing/2014/main" val="871483420"/>
                    </a:ext>
                  </a:extLst>
                </a:gridCol>
              </a:tblGrid>
              <a:tr h="376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Test ID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/>
                        <a:t>Kết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quả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thực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tế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/>
                        <a:t>Trạng</a:t>
                      </a:r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thái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4905972"/>
                  </a:ext>
                </a:extLst>
              </a:tr>
              <a:tr h="353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TC01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Chưa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chạy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 Run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962310"/>
                  </a:ext>
                </a:extLst>
              </a:tr>
              <a:tr h="353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TC02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Chưa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chạy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 Run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713449"/>
                  </a:ext>
                </a:extLst>
              </a:tr>
              <a:tr h="353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TC03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Chưa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chạy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 Run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148932"/>
                  </a:ext>
                </a:extLst>
              </a:tr>
              <a:tr h="3978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TC04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Chưa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chạy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 Run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637430"/>
                  </a:ext>
                </a:extLst>
              </a:tr>
              <a:tr h="353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TC05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Chưa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chạy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 Run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053011"/>
                  </a:ext>
                </a:extLst>
              </a:tr>
              <a:tr h="353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TC06–TC12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Chưa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chạy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 Run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228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2895870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17255" y="3021991"/>
            <a:ext cx="4741519" cy="81401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b="1">
                <a:solidFill>
                  <a:srgbClr val="C00000"/>
                </a:solidFill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297</Words>
  <Application>Microsoft Office PowerPoint</Application>
  <PresentationFormat>On-screen Show (4:3)</PresentationFormat>
  <Paragraphs>49</Paragraphs>
  <Slides>10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1. Giới thiệu về thuật toán HC 128</vt:lpstr>
      <vt:lpstr>2. Cơ sở lý thuyết </vt:lpstr>
      <vt:lpstr>2. Cơ sở lý thuyết </vt:lpstr>
      <vt:lpstr>2. Cơ sở lý thuyết </vt:lpstr>
      <vt:lpstr>3. Cấu trúc dự án</vt:lpstr>
      <vt:lpstr>4. Kịch bản kiểm thử</vt:lpstr>
      <vt:lpstr>4. Kịch bản kiểm thử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Tran Van Vinh 20223829</cp:lastModifiedBy>
  <cp:revision>983</cp:revision>
  <dcterms:created xsi:type="dcterms:W3CDTF">2021-05-28T04:32:29Z</dcterms:created>
  <dcterms:modified xsi:type="dcterms:W3CDTF">2026-10-21T04:19:44Z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0x010100EF9D3663555DB2438BF74B494BAE89C8</vt:lpwstr>
  </property>
</Properties>
</file>